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FDFB93-4947-4F51-913C-5990D2F14578}" v="477" dt="2025-06-05T13:27:09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0F014-6766-48A7-8F57-85CEEED59727}" type="datetimeFigureOut">
              <a:t>05/06/2025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A746F-921E-4384-8F4F-320B9BA719C8}" type="slidenum"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896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blog.csdn.net/weixin_43217928/article/details/104801376" TargetMode="Externa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anshen.com/article/52821098542/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68499"/>
            <a:ext cx="86439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15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Detecção de Objetos com Deep Learning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285750" y="1382874"/>
            <a:ext cx="86439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Foco nas Redes YOLO (You Only Look Once)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85750" y="1954374"/>
            <a:ext cx="714375" cy="3571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2062586"/>
            <a:ext cx="8643938" cy="5693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350" dirty="0" err="1">
                <a:solidFill>
                  <a:srgbClr val="7F8C8D"/>
                </a:solidFill>
                <a:latin typeface="Segoe UI"/>
                <a:cs typeface="Segoe UI"/>
              </a:rPr>
              <a:t>Disciplina</a:t>
            </a:r>
            <a:r>
              <a:rPr lang="en-US" sz="1350" dirty="0">
                <a:solidFill>
                  <a:srgbClr val="7F8C8D"/>
                </a:solidFill>
                <a:latin typeface="Segoe UI"/>
                <a:cs typeface="Segoe UI"/>
              </a:rPr>
              <a:t>: Redes </a:t>
            </a:r>
            <a:r>
              <a:rPr lang="en-US" sz="1350" dirty="0" err="1">
                <a:solidFill>
                  <a:srgbClr val="7F8C8D"/>
                </a:solidFill>
                <a:latin typeface="Segoe UI"/>
                <a:cs typeface="Segoe UI"/>
              </a:rPr>
              <a:t>Neurais</a:t>
            </a:r>
            <a:r>
              <a:rPr lang="en-US" sz="1350" dirty="0">
                <a:solidFill>
                  <a:srgbClr val="7F8C8D"/>
                </a:solidFill>
                <a:latin typeface="Segoe UI"/>
                <a:cs typeface="Segoe UI"/>
              </a:rPr>
              <a:t>/Deep Learning</a:t>
            </a:r>
          </a:p>
          <a:p>
            <a:endParaRPr lang="en-US" sz="1350" dirty="0">
              <a:solidFill>
                <a:srgbClr val="7F8C8D"/>
              </a:solidFill>
              <a:latin typeface="Segoe UI"/>
              <a:cs typeface="Segoe UI"/>
            </a:endParaRPr>
          </a:p>
          <a:p>
            <a:r>
              <a:rPr lang="en-US" sz="1000" dirty="0" err="1">
                <a:solidFill>
                  <a:srgbClr val="7F8C8D"/>
                </a:solidFill>
                <a:latin typeface="Segoe UI"/>
                <a:cs typeface="Segoe UI"/>
              </a:rPr>
              <a:t>Discentes</a:t>
            </a:r>
            <a:r>
              <a:rPr lang="en-US" sz="1000" dirty="0">
                <a:solidFill>
                  <a:srgbClr val="7F8C8D"/>
                </a:solidFill>
                <a:latin typeface="Segoe UI"/>
                <a:cs typeface="Segoe UI"/>
              </a:rPr>
              <a:t>: André Vinícius da Silva Brandão, Lídia Gabrielly Dutra de Meneses Santos</a:t>
            </a:r>
          </a:p>
        </p:txBody>
      </p:sp>
      <p:sp>
        <p:nvSpPr>
          <p:cNvPr id="7" name="Text 4"/>
          <p:cNvSpPr/>
          <p:nvPr/>
        </p:nvSpPr>
        <p:spPr>
          <a:xfrm>
            <a:off x="285750" y="2818767"/>
            <a:ext cx="5786438" cy="713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análise das técnicas modernas de Deep Learning para detecção de objetos em cenas, com ênfase especial na família de arquiteturas YOLO, suas evoluções e aplicações.</a:t>
            </a:r>
            <a:endParaRPr lang="en-US" sz="117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4001728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7250" y="3874926"/>
            <a:ext cx="1643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Detecção em tempo real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857250" y="4074951"/>
            <a:ext cx="1643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Alta precisão</a:t>
            </a:r>
            <a:endParaRPr lang="en-US" sz="1125" dirty="0"/>
          </a:p>
        </p:txBody>
      </p:sp>
      <p:sp>
        <p:nvSpPr>
          <p:cNvPr id="11" name="Text 7"/>
          <p:cNvSpPr/>
          <p:nvPr/>
        </p:nvSpPr>
        <p:spPr>
          <a:xfrm>
            <a:off x="857250" y="4274976"/>
            <a:ext cx="1643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Eficiência computacional</a:t>
            </a:r>
            <a:endParaRPr lang="en-US" sz="1125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7000875" y="3000375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480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52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Detecção de Objetos?</a:t>
            </a:r>
            <a:endParaRPr lang="en-US" sz="2520" dirty="0"/>
          </a:p>
        </p:txBody>
      </p:sp>
      <p:sp>
        <p:nvSpPr>
          <p:cNvPr id="4" name="Shape 1"/>
          <p:cNvSpPr/>
          <p:nvPr/>
        </p:nvSpPr>
        <p:spPr>
          <a:xfrm>
            <a:off x="285750" y="937254"/>
            <a:ext cx="571500" cy="285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226576"/>
            <a:ext cx="19346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407780" y="1226576"/>
            <a:ext cx="139001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detecção de objetos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285750" y="1226576"/>
            <a:ext cx="4058599" cy="37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uma tarefa de visão computacional que envolve: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285750" y="1747624"/>
            <a:ext cx="4171950" cy="1201266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747624"/>
            <a:ext cx="28575" cy="120126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1890499"/>
            <a:ext cx="39576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Definição: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28625" y="2179820"/>
            <a:ext cx="3753538" cy="37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Identificar e localizar múltiplas instâncias de objetos em uma imagem, determinando tanto a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2327049" y="2399268"/>
            <a:ext cx="46021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2715825" y="2399268"/>
            <a:ext cx="68155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quanto a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428625" y="2399268"/>
            <a:ext cx="3441502" cy="37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posição espacial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931841" y="2618715"/>
            <a:ext cx="104753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cada objeto.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285750" y="3152487"/>
            <a:ext cx="180189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Diferente da classificação: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307181" y="3298316"/>
            <a:ext cx="4149905" cy="3385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050" dirty="0" err="1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Não</a:t>
            </a:r>
            <a:r>
              <a:rPr lang="en-US" sz="1050" dirty="0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apenas</a:t>
            </a:r>
            <a:r>
              <a:rPr lang="en-US" sz="1050" dirty="0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identifica</a:t>
            </a:r>
            <a:r>
              <a:rPr lang="en-US" sz="1050" dirty="0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 o que </a:t>
            </a:r>
            <a:r>
              <a:rPr lang="en-US" sz="1050" dirty="0" err="1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está</a:t>
            </a:r>
            <a:r>
              <a:rPr lang="en-US" sz="1050" dirty="0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na</a:t>
            </a:r>
            <a:r>
              <a:rPr lang="en-US" sz="1050" dirty="0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imagem</a:t>
            </a:r>
            <a:r>
              <a:rPr lang="en-US" sz="1050" dirty="0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, mas </a:t>
            </a:r>
            <a:r>
              <a:rPr lang="en-US" sz="1050" dirty="0" err="1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também</a:t>
            </a:r>
            <a:r>
              <a:rPr lang="en-US" sz="1050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 o</a:t>
            </a:r>
            <a:r>
              <a:rPr lang="en-US" sz="1100" i="1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nde</a:t>
            </a:r>
            <a:r>
              <a:rPr lang="en-US" sz="1100" i="1" dirty="0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 </a:t>
            </a:r>
            <a:r>
              <a:rPr lang="en-US" sz="1100" dirty="0" err="1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está</a:t>
            </a:r>
            <a:r>
              <a:rPr lang="en-US" sz="1100" dirty="0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 </a:t>
            </a:r>
            <a:r>
              <a:rPr lang="en-US" sz="1100" dirty="0" err="1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cada</a:t>
            </a:r>
            <a:r>
              <a:rPr lang="en-US" sz="1100" dirty="0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 </a:t>
            </a:r>
            <a:r>
              <a:rPr lang="en-US" sz="1100" dirty="0" err="1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objeto</a:t>
            </a:r>
            <a:endParaRPr lang="en-US" sz="1050" dirty="0">
              <a:ea typeface="Calibri"/>
              <a:cs typeface="Calibri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057094" y="3367938"/>
            <a:ext cx="65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050" dirty="0">
              <a:solidFill>
                <a:srgbClr val="333333"/>
              </a:solidFill>
              <a:latin typeface="Segoe UI"/>
              <a:cs typeface="Segoe U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85750" y="3705681"/>
            <a:ext cx="1717514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Componentes principais: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457200" y="4007281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Classificação (O que é o objeto?)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457200" y="4226728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Localização (Onde está o objeto?)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457200" y="4446175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Detecção de múltiplas instâncias</a:t>
            </a:r>
            <a:endParaRPr lang="en-US" sz="108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900" y="1194429"/>
            <a:ext cx="3872750" cy="22859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686300" y="3626876"/>
            <a:ext cx="84134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Aplicações:</a:t>
            </a:r>
            <a:endParaRPr lang="en-US" sz="1080" dirty="0"/>
          </a:p>
        </p:txBody>
      </p:sp>
      <p:sp>
        <p:nvSpPr>
          <p:cNvPr id="26" name="Shape 22"/>
          <p:cNvSpPr/>
          <p:nvPr/>
        </p:nvSpPr>
        <p:spPr>
          <a:xfrm>
            <a:off x="4686300" y="3928476"/>
            <a:ext cx="2028825" cy="39089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025" y="4055334"/>
            <a:ext cx="171450" cy="13715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000625" y="4014201"/>
            <a:ext cx="1306637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Veículos autônomos</a:t>
            </a:r>
            <a:endParaRPr lang="en-US" sz="1080" dirty="0"/>
          </a:p>
        </p:txBody>
      </p:sp>
      <p:sp>
        <p:nvSpPr>
          <p:cNvPr id="29" name="Shape 24"/>
          <p:cNvSpPr/>
          <p:nvPr/>
        </p:nvSpPr>
        <p:spPr>
          <a:xfrm>
            <a:off x="6829425" y="3928476"/>
            <a:ext cx="2028825" cy="39089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5150" y="4055334"/>
            <a:ext cx="153591" cy="13715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125891" y="4014201"/>
            <a:ext cx="656025" cy="219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Vigilância</a:t>
            </a:r>
            <a:endParaRPr lang="en-US" sz="1080" dirty="0"/>
          </a:p>
        </p:txBody>
      </p:sp>
      <p:sp>
        <p:nvSpPr>
          <p:cNvPr id="32" name="Shape 26"/>
          <p:cNvSpPr/>
          <p:nvPr/>
        </p:nvSpPr>
        <p:spPr>
          <a:xfrm>
            <a:off x="4686300" y="4433674"/>
            <a:ext cx="2028825" cy="39089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025" y="4560531"/>
            <a:ext cx="171450" cy="13715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000625" y="4519399"/>
            <a:ext cx="612772" cy="219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Robótica</a:t>
            </a:r>
            <a:endParaRPr lang="en-US" sz="1080" dirty="0"/>
          </a:p>
        </p:txBody>
      </p:sp>
      <p:sp>
        <p:nvSpPr>
          <p:cNvPr id="35" name="Shape 28"/>
          <p:cNvSpPr/>
          <p:nvPr/>
        </p:nvSpPr>
        <p:spPr>
          <a:xfrm>
            <a:off x="6829425" y="4433674"/>
            <a:ext cx="2028825" cy="39089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5150" y="4560531"/>
            <a:ext cx="153591" cy="13715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125891" y="4519399"/>
            <a:ext cx="1136135" cy="219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Varejo (checkout)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186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480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52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Abordagens Tradicionais vs. Deep Learning</a:t>
            </a:r>
            <a:endParaRPr lang="en-US" sz="2520" dirty="0"/>
          </a:p>
        </p:txBody>
      </p:sp>
      <p:sp>
        <p:nvSpPr>
          <p:cNvPr id="4" name="Shape 1"/>
          <p:cNvSpPr/>
          <p:nvPr/>
        </p:nvSpPr>
        <p:spPr>
          <a:xfrm>
            <a:off x="285750" y="937254"/>
            <a:ext cx="571500" cy="285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194429"/>
            <a:ext cx="424338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evolução da detecção de objetos passou por uma transformação significativa com o advento do Deep Learning:</a:t>
            </a:r>
            <a:endParaRPr lang="en-US" sz="1080" dirty="0"/>
          </a:p>
        </p:txBody>
      </p:sp>
      <p:sp>
        <p:nvSpPr>
          <p:cNvPr id="6" name="Shape 3"/>
          <p:cNvSpPr/>
          <p:nvPr/>
        </p:nvSpPr>
        <p:spPr>
          <a:xfrm>
            <a:off x="285750" y="1804774"/>
            <a:ext cx="2124987" cy="3429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/>
          <p:nvPr/>
        </p:nvSpPr>
        <p:spPr>
          <a:xfrm>
            <a:off x="285750" y="1804774"/>
            <a:ext cx="2196424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Abordagens Tradicionais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410737" y="1804774"/>
            <a:ext cx="2046963" cy="3429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Text 6"/>
          <p:cNvSpPr/>
          <p:nvPr/>
        </p:nvSpPr>
        <p:spPr>
          <a:xfrm>
            <a:off x="2410737" y="1804774"/>
            <a:ext cx="2118401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Abordagens com Deep Learning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85750" y="2147674"/>
            <a:ext cx="2196424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Extração manual de características (HOG, SIFT, etc.)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410737" y="2147674"/>
            <a:ext cx="2118401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Aprendizado automático de características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85750" y="2669167"/>
            <a:ext cx="4171950" cy="521494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285750" y="2669167"/>
            <a:ext cx="2196424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Classificadores tradicionais (SVM, AdaBoost)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410737" y="2669167"/>
            <a:ext cx="2118401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Redes neurais profundas end-to-end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85750" y="3190661"/>
            <a:ext cx="2196424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Algoritmos em cascata (Viola-Jones)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410737" y="3190661"/>
            <a:ext cx="2118401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Arquiteturas CNN especializadas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85750" y="3540705"/>
            <a:ext cx="4171950" cy="521494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285750" y="3540705"/>
            <a:ext cx="2196424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Baixa robustez a variações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410737" y="3540705"/>
            <a:ext cx="2118401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Alta robustez a variações de iluminação, pose, etc.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85750" y="4062199"/>
            <a:ext cx="2196424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Processamento lento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410737" y="4062199"/>
            <a:ext cx="2118401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Potencial para processamento em tempo real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85750" y="4787289"/>
            <a:ext cx="273150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Limitações das abordagens tradicionais: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457200" y="4974589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Dificuldade com cenas complexas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457200" y="5194036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Baixa generalização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457200" y="5413484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Necessidade de engenharia manual de características</a:t>
            </a:r>
            <a:endParaRPr lang="en-US" sz="108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530" y="1194429"/>
            <a:ext cx="3329490" cy="214309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686300" y="3541151"/>
            <a:ext cx="199958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Vantagens do Deep Learning:</a:t>
            </a:r>
            <a:endParaRPr lang="en-US" sz="1080" dirty="0"/>
          </a:p>
        </p:txBody>
      </p:sp>
      <p:sp>
        <p:nvSpPr>
          <p:cNvPr id="28" name="Shape 24"/>
          <p:cNvSpPr/>
          <p:nvPr/>
        </p:nvSpPr>
        <p:spPr>
          <a:xfrm>
            <a:off x="4686300" y="3842751"/>
            <a:ext cx="2028825" cy="1010394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107907"/>
            <a:ext cx="137517" cy="13715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995267" y="3957051"/>
            <a:ext cx="1676995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Representação hierárquica</a:t>
            </a:r>
            <a:endParaRPr lang="en-US" sz="1080" dirty="0"/>
          </a:p>
        </p:txBody>
      </p:sp>
      <p:sp>
        <p:nvSpPr>
          <p:cNvPr id="31" name="Text 26"/>
          <p:cNvSpPr/>
          <p:nvPr/>
        </p:nvSpPr>
        <p:spPr>
          <a:xfrm>
            <a:off x="4800600" y="4453096"/>
            <a:ext cx="18716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Aprende características de baixo a alto nível automaticamente</a:t>
            </a:r>
            <a:endParaRPr lang="en-US" sz="788" dirty="0"/>
          </a:p>
        </p:txBody>
      </p:sp>
      <p:sp>
        <p:nvSpPr>
          <p:cNvPr id="32" name="Shape 27"/>
          <p:cNvSpPr/>
          <p:nvPr/>
        </p:nvSpPr>
        <p:spPr>
          <a:xfrm>
            <a:off x="6829425" y="3842751"/>
            <a:ext cx="2028825" cy="1010394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725" y="3998184"/>
            <a:ext cx="137517" cy="13715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138392" y="3957051"/>
            <a:ext cx="1024375" cy="219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Escalabilidade</a:t>
            </a:r>
            <a:endParaRPr lang="en-US" sz="1080" dirty="0"/>
          </a:p>
        </p:txBody>
      </p:sp>
      <p:sp>
        <p:nvSpPr>
          <p:cNvPr id="35" name="Text 29"/>
          <p:cNvSpPr/>
          <p:nvPr/>
        </p:nvSpPr>
        <p:spPr>
          <a:xfrm>
            <a:off x="6943725" y="4233649"/>
            <a:ext cx="18716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Melhora com mais dados e capacidade computacional</a:t>
            </a:r>
            <a:endParaRPr lang="en-US" sz="788" dirty="0"/>
          </a:p>
        </p:txBody>
      </p:sp>
      <p:sp>
        <p:nvSpPr>
          <p:cNvPr id="36" name="Shape 30"/>
          <p:cNvSpPr/>
          <p:nvPr/>
        </p:nvSpPr>
        <p:spPr>
          <a:xfrm>
            <a:off x="4686300" y="4967446"/>
            <a:ext cx="2028825" cy="648072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5122878"/>
            <a:ext cx="137517" cy="13715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995267" y="5081746"/>
            <a:ext cx="963430" cy="219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Transferência</a:t>
            </a:r>
            <a:endParaRPr lang="en-US" sz="1080" dirty="0"/>
          </a:p>
        </p:txBody>
      </p:sp>
      <p:sp>
        <p:nvSpPr>
          <p:cNvPr id="39" name="Text 32"/>
          <p:cNvSpPr/>
          <p:nvPr/>
        </p:nvSpPr>
        <p:spPr>
          <a:xfrm>
            <a:off x="4800600" y="5358343"/>
            <a:ext cx="18716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Conhecimento transferível entre tarefas</a:t>
            </a:r>
            <a:endParaRPr lang="en-US" sz="788" dirty="0"/>
          </a:p>
        </p:txBody>
      </p:sp>
      <p:sp>
        <p:nvSpPr>
          <p:cNvPr id="40" name="Shape 33"/>
          <p:cNvSpPr/>
          <p:nvPr/>
        </p:nvSpPr>
        <p:spPr>
          <a:xfrm>
            <a:off x="6829425" y="4967446"/>
            <a:ext cx="2028825" cy="648072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3725" y="5122878"/>
            <a:ext cx="153591" cy="13715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154466" y="5081746"/>
            <a:ext cx="932678" cy="219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Desempenho</a:t>
            </a:r>
            <a:endParaRPr lang="en-US" sz="1080" dirty="0"/>
          </a:p>
        </p:txBody>
      </p:sp>
      <p:sp>
        <p:nvSpPr>
          <p:cNvPr id="43" name="Text 35"/>
          <p:cNvSpPr/>
          <p:nvPr/>
        </p:nvSpPr>
        <p:spPr>
          <a:xfrm>
            <a:off x="6943725" y="5358343"/>
            <a:ext cx="18716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Precisão e velocidade superiores</a:t>
            </a:r>
            <a:endParaRPr lang="en-US" sz="78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4573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480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52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Principais Abordagens de DL</a:t>
            </a:r>
            <a:endParaRPr lang="en-US" sz="2520" dirty="0"/>
          </a:p>
        </p:txBody>
      </p:sp>
      <p:sp>
        <p:nvSpPr>
          <p:cNvPr id="4" name="Shape 1"/>
          <p:cNvSpPr/>
          <p:nvPr/>
        </p:nvSpPr>
        <p:spPr>
          <a:xfrm>
            <a:off x="285750" y="937254"/>
            <a:ext cx="571500" cy="285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194429"/>
            <a:ext cx="8643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arquiteturas de Deep Learning para detecção de objetos podem ser categorizadas em duas principais famílias:</a:t>
            </a:r>
            <a:endParaRPr lang="en-US" sz="1080" dirty="0"/>
          </a:p>
        </p:txBody>
      </p:sp>
      <p:sp>
        <p:nvSpPr>
          <p:cNvPr id="6" name="Shape 3"/>
          <p:cNvSpPr/>
          <p:nvPr/>
        </p:nvSpPr>
        <p:spPr>
          <a:xfrm>
            <a:off x="285750" y="1585326"/>
            <a:ext cx="4171950" cy="257175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728201"/>
            <a:ext cx="3957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Detectores Two-Stage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8625" y="2042526"/>
            <a:ext cx="801467" cy="200025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2042526"/>
            <a:ext cx="872905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Precisão Alta</a:t>
            </a:r>
            <a:endParaRPr lang="en-US" sz="788" dirty="0"/>
          </a:p>
        </p:txBody>
      </p:sp>
      <p:sp>
        <p:nvSpPr>
          <p:cNvPr id="10" name="Shape 7"/>
          <p:cNvSpPr/>
          <p:nvPr/>
        </p:nvSpPr>
        <p:spPr>
          <a:xfrm>
            <a:off x="1261849" y="2042526"/>
            <a:ext cx="1021807" cy="200025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11" name="Text 8"/>
          <p:cNvSpPr/>
          <p:nvPr/>
        </p:nvSpPr>
        <p:spPr>
          <a:xfrm>
            <a:off x="1261849" y="2042526"/>
            <a:ext cx="1093245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Velocidade Menor</a:t>
            </a:r>
            <a:endParaRPr lang="en-US" sz="788" dirty="0"/>
          </a:p>
        </p:txBody>
      </p:sp>
      <p:sp>
        <p:nvSpPr>
          <p:cNvPr id="12" name="Text 9"/>
          <p:cNvSpPr/>
          <p:nvPr/>
        </p:nvSpPr>
        <p:spPr>
          <a:xfrm>
            <a:off x="428625" y="2435433"/>
            <a:ext cx="62412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81317" y="2435433"/>
            <a:ext cx="333708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Primeiro gera regiões candidatas, depois classifica cada região.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0075" y="2721183"/>
            <a:ext cx="4396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R-CNN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68313" y="2721183"/>
            <a:ext cx="143087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Regions with CNN (2014)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0075" y="2892633"/>
            <a:ext cx="706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R-CNN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235087" y="2892633"/>
            <a:ext cx="203462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Compartilhamento de features (2015)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0075" y="3064083"/>
            <a:ext cx="81449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R-CNN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343137" y="3064083"/>
            <a:ext cx="179313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Region Proposal Network (2015)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0075" y="3235533"/>
            <a:ext cx="75734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 R-CNN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285987" y="3235533"/>
            <a:ext cx="190135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Segmentação de instâncias (2017)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28625" y="3521283"/>
            <a:ext cx="64946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Vantagem: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06655" y="3521283"/>
            <a:ext cx="207905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Alta precisão em detecções complexas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28625" y="3692733"/>
            <a:ext cx="85278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Desvantagem: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209973" y="3692733"/>
            <a:ext cx="221880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Mais lento para aplicações em tempo real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686300" y="1585326"/>
            <a:ext cx="4171950" cy="257175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7" name="Text 24"/>
          <p:cNvSpPr/>
          <p:nvPr/>
        </p:nvSpPr>
        <p:spPr>
          <a:xfrm>
            <a:off x="4829175" y="1728201"/>
            <a:ext cx="3957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Detectores One-Stage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829175" y="2042526"/>
            <a:ext cx="907005" cy="200025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29" name="Text 26"/>
          <p:cNvSpPr/>
          <p:nvPr/>
        </p:nvSpPr>
        <p:spPr>
          <a:xfrm>
            <a:off x="4829175" y="2042526"/>
            <a:ext cx="978443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Velocidade Alta</a:t>
            </a:r>
            <a:endParaRPr lang="en-US" sz="788" dirty="0"/>
          </a:p>
        </p:txBody>
      </p:sp>
      <p:sp>
        <p:nvSpPr>
          <p:cNvPr id="30" name="Shape 27"/>
          <p:cNvSpPr/>
          <p:nvPr/>
        </p:nvSpPr>
        <p:spPr>
          <a:xfrm>
            <a:off x="5767936" y="2042526"/>
            <a:ext cx="1188625" cy="200025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31" name="Text 28"/>
          <p:cNvSpPr/>
          <p:nvPr/>
        </p:nvSpPr>
        <p:spPr>
          <a:xfrm>
            <a:off x="5767936" y="2042526"/>
            <a:ext cx="1260063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Precisão Competitiva</a:t>
            </a:r>
            <a:endParaRPr lang="en-US" sz="788" dirty="0"/>
          </a:p>
        </p:txBody>
      </p:sp>
      <p:sp>
        <p:nvSpPr>
          <p:cNvPr id="32" name="Text 29"/>
          <p:cNvSpPr/>
          <p:nvPr/>
        </p:nvSpPr>
        <p:spPr>
          <a:xfrm>
            <a:off x="4829175" y="2435433"/>
            <a:ext cx="62412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Processo: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29175" y="2435433"/>
            <a:ext cx="37119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Prediz classes e bounding boxes diretamente em uma única passagem.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000625" y="2892633"/>
            <a:ext cx="3953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24494" y="2892633"/>
            <a:ext cx="153925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You Only Look Once (2016)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000625" y="3064083"/>
            <a:ext cx="3064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SSD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235643" y="3064083"/>
            <a:ext cx="15454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Single Shot Detector (2016)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00625" y="3235533"/>
            <a:ext cx="60493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RetinaNet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534118" y="3235533"/>
            <a:ext cx="104979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Focal Loss (2017)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000625" y="3406983"/>
            <a:ext cx="7065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EfficientDet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635693" y="3406983"/>
            <a:ext cx="149455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Eficiência escalável (2020)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829175" y="3692733"/>
            <a:ext cx="64946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Vantagem: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407205" y="3692733"/>
            <a:ext cx="225714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Velocidade para aplicações em tempo real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829175" y="3864183"/>
            <a:ext cx="85278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Desvantagem: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610523" y="3864183"/>
            <a:ext cx="28097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Historicamente menor precisão em objetos pequenos</a:t>
            </a:r>
            <a:endParaRPr lang="en-US" sz="900" dirty="0"/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323" y="4385676"/>
            <a:ext cx="4941326" cy="17859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94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480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52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Introdução ao YOLO</a:t>
            </a:r>
            <a:endParaRPr lang="en-US" sz="2520" dirty="0"/>
          </a:p>
        </p:txBody>
      </p:sp>
      <p:sp>
        <p:nvSpPr>
          <p:cNvPr id="4" name="Shape 1"/>
          <p:cNvSpPr/>
          <p:nvPr/>
        </p:nvSpPr>
        <p:spPr>
          <a:xfrm>
            <a:off x="285750" y="937254"/>
            <a:ext cx="571500" cy="285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1194429"/>
            <a:ext cx="4171950" cy="814388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1194429"/>
            <a:ext cx="28575" cy="81438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/>
          <p:nvPr/>
        </p:nvSpPr>
        <p:spPr>
          <a:xfrm>
            <a:off x="392906" y="1301586"/>
            <a:ext cx="40290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YOLO: You Only Look Once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392906" y="1558761"/>
            <a:ext cx="402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Proposto por Joseph Redmon et al. em 2016, revolucionou a detecção de objetos com uma abordagem unificada e eficiente.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85750" y="2183839"/>
            <a:ext cx="1557393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Princípio fundamental: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285750" y="2485439"/>
            <a:ext cx="4243388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Tratar a detecção como um único problema de regressão, direto da imagem para coordenadas de bounding boxes e probabilidades de classes.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285750" y="3347377"/>
            <a:ext cx="178669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 principais:</a:t>
            </a:r>
            <a:endParaRPr lang="en-US" sz="108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677552"/>
            <a:ext cx="137517" cy="1371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417" y="3648977"/>
            <a:ext cx="2031002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unificada end-to-end</a:t>
            </a:r>
            <a:endParaRPr lang="en-US" sz="108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954149"/>
            <a:ext cx="137517" cy="13715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0417" y="3925574"/>
            <a:ext cx="2244030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Extremamente rápido (45-155 FPS)</a:t>
            </a:r>
            <a:endParaRPr lang="en-US" sz="108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4230746"/>
            <a:ext cx="137517" cy="13715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0417" y="4202171"/>
            <a:ext cx="2137460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Raciocínio global sobre a imagem</a:t>
            </a:r>
            <a:endParaRPr lang="en-US" sz="108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4507343"/>
            <a:ext cx="137517" cy="13715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0417" y="4478768"/>
            <a:ext cx="293066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Aprendizado de representações generalizáveis</a:t>
            </a:r>
            <a:endParaRPr lang="en-US" sz="108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300" y="1327872"/>
            <a:ext cx="4171950" cy="201911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86300" y="3684026"/>
            <a:ext cx="161074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Funcionamento básico:</a:t>
            </a:r>
            <a:endParaRPr lang="en-US" sz="1080" dirty="0"/>
          </a:p>
        </p:txBody>
      </p:sp>
      <p:sp>
        <p:nvSpPr>
          <p:cNvPr id="22" name="Text 14"/>
          <p:cNvSpPr/>
          <p:nvPr/>
        </p:nvSpPr>
        <p:spPr>
          <a:xfrm>
            <a:off x="4857750" y="3985626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Divide a imagem em uma grade SxS</a:t>
            </a:r>
            <a:endParaRPr lang="en-US" sz="1080" dirty="0"/>
          </a:p>
        </p:txBody>
      </p:sp>
      <p:sp>
        <p:nvSpPr>
          <p:cNvPr id="23" name="Text 15"/>
          <p:cNvSpPr/>
          <p:nvPr/>
        </p:nvSpPr>
        <p:spPr>
          <a:xfrm>
            <a:off x="4857750" y="4205074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célula da grade prevê B bounding boxes</a:t>
            </a:r>
            <a:endParaRPr lang="en-US" sz="1080" dirty="0"/>
          </a:p>
        </p:txBody>
      </p:sp>
      <p:sp>
        <p:nvSpPr>
          <p:cNvPr id="24" name="Text 16"/>
          <p:cNvSpPr/>
          <p:nvPr/>
        </p:nvSpPr>
        <p:spPr>
          <a:xfrm>
            <a:off x="4857750" y="4456668"/>
            <a:ext cx="164987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bounding box inclui:</a:t>
            </a:r>
            <a:endParaRPr lang="en-US" sz="1080" dirty="0"/>
          </a:p>
        </p:txBody>
      </p:sp>
      <p:sp>
        <p:nvSpPr>
          <p:cNvPr id="25" name="Text 17"/>
          <p:cNvSpPr/>
          <p:nvPr/>
        </p:nvSpPr>
        <p:spPr>
          <a:xfrm>
            <a:off x="5029200" y="4672543"/>
            <a:ext cx="390048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Coordenadas (x, y, w, h)</a:t>
            </a:r>
            <a:endParaRPr lang="en-US" sz="1080" dirty="0"/>
          </a:p>
        </p:txBody>
      </p:sp>
      <p:sp>
        <p:nvSpPr>
          <p:cNvPr id="26" name="Text 18"/>
          <p:cNvSpPr/>
          <p:nvPr/>
        </p:nvSpPr>
        <p:spPr>
          <a:xfrm>
            <a:off x="5029200" y="4891990"/>
            <a:ext cx="390048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score</a:t>
            </a:r>
            <a:endParaRPr lang="en-US" sz="1080" dirty="0"/>
          </a:p>
        </p:txBody>
      </p:sp>
      <p:sp>
        <p:nvSpPr>
          <p:cNvPr id="27" name="Text 19"/>
          <p:cNvSpPr/>
          <p:nvPr/>
        </p:nvSpPr>
        <p:spPr>
          <a:xfrm>
            <a:off x="4857750" y="5111437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célula prevê C probabilidades condicionais de classes</a:t>
            </a:r>
            <a:endParaRPr lang="en-US" sz="1080" dirty="0"/>
          </a:p>
        </p:txBody>
      </p:sp>
      <p:sp>
        <p:nvSpPr>
          <p:cNvPr id="28" name="Text 20"/>
          <p:cNvSpPr/>
          <p:nvPr/>
        </p:nvSpPr>
        <p:spPr>
          <a:xfrm>
            <a:off x="4857750" y="5330884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Filtragem final por Non-Maximum Suppression</a:t>
            </a:r>
            <a:endParaRPr lang="en-US" sz="1080" dirty="0"/>
          </a:p>
        </p:txBody>
      </p:sp>
      <p:sp>
        <p:nvSpPr>
          <p:cNvPr id="29" name="Shape 21"/>
          <p:cNvSpPr/>
          <p:nvPr/>
        </p:nvSpPr>
        <p:spPr>
          <a:xfrm>
            <a:off x="4686300" y="5721781"/>
            <a:ext cx="4171950" cy="886941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0" name="Shape 22"/>
          <p:cNvSpPr/>
          <p:nvPr/>
        </p:nvSpPr>
        <p:spPr>
          <a:xfrm>
            <a:off x="4686300" y="5721781"/>
            <a:ext cx="28575" cy="886941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1" name="Text 23"/>
          <p:cNvSpPr/>
          <p:nvPr/>
        </p:nvSpPr>
        <p:spPr>
          <a:xfrm>
            <a:off x="4800600" y="5836081"/>
            <a:ext cx="401478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Limitações iniciais:</a:t>
            </a:r>
            <a:endParaRPr lang="en-US" sz="1080" dirty="0"/>
          </a:p>
        </p:txBody>
      </p:sp>
      <p:sp>
        <p:nvSpPr>
          <p:cNvPr id="32" name="Text 24"/>
          <p:cNvSpPr/>
          <p:nvPr/>
        </p:nvSpPr>
        <p:spPr>
          <a:xfrm>
            <a:off x="4800600" y="6055528"/>
            <a:ext cx="401478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Dificuldade com objetos pequenos e próximos, e menor precisão comparada a detectores two-stage da época.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5607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480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52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Evolução do YOLO: YOLOv2 e YOLO9000</a:t>
            </a:r>
            <a:endParaRPr lang="en-US" sz="2520" dirty="0"/>
          </a:p>
        </p:txBody>
      </p:sp>
      <p:sp>
        <p:nvSpPr>
          <p:cNvPr id="4" name="Shape 1"/>
          <p:cNvSpPr/>
          <p:nvPr/>
        </p:nvSpPr>
        <p:spPr>
          <a:xfrm>
            <a:off x="285750" y="937254"/>
            <a:ext cx="571500" cy="285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226576"/>
            <a:ext cx="143583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YOLOv2 (YOLO9000)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1650150" y="1226576"/>
            <a:ext cx="277797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Publicado em 2017 por Redmon e Farhadi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285750" y="1528176"/>
            <a:ext cx="424338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Foco em melhorar a precisão mantendo a velocidade, e expandir o número de classes detectáveis.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285750" y="2138521"/>
            <a:ext cx="42433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Principais melhorias:</a:t>
            </a:r>
            <a:endParaRPr lang="en-US" sz="1125" dirty="0"/>
          </a:p>
        </p:txBody>
      </p:sp>
      <p:sp>
        <p:nvSpPr>
          <p:cNvPr id="9" name="Shape 6"/>
          <p:cNvSpPr/>
          <p:nvPr/>
        </p:nvSpPr>
        <p:spPr>
          <a:xfrm>
            <a:off x="285750" y="2509996"/>
            <a:ext cx="202882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400050" y="2624296"/>
            <a:ext cx="18716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Normalization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00050" y="2852896"/>
            <a:ext cx="18716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Adicionada em todas as camadas convolucionais, melhorando a convergência e eliminando a necessidade de dropout.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28875" y="2509996"/>
            <a:ext cx="202882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2543175" y="2624296"/>
            <a:ext cx="18716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Classificador de Alta Resolução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543175" y="2852896"/>
            <a:ext cx="18716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Treinamento inicial com resolução 224×224, depois fine-tuning com 448×448 para detecção.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85750" y="3767296"/>
            <a:ext cx="2028825" cy="9715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00050" y="3881596"/>
            <a:ext cx="18716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Anchor Boxes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00050" y="4110196"/>
            <a:ext cx="18716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de dimensões pré-definidas para bounding boxes, melhorando a precisão de localização.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428875" y="3767296"/>
            <a:ext cx="2028825" cy="9715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2543175" y="3881596"/>
            <a:ext cx="18716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Dimensões Variadas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543175" y="4110196"/>
            <a:ext cx="18716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Treinamento com múltiplas resoluções para adaptação a diferentes tamanhos de entrada.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85750" y="4910296"/>
            <a:ext cx="4171950" cy="74295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2" name="Shape 19"/>
          <p:cNvSpPr/>
          <p:nvPr/>
        </p:nvSpPr>
        <p:spPr>
          <a:xfrm>
            <a:off x="285750" y="4910296"/>
            <a:ext cx="28575" cy="74295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Text 20"/>
          <p:cNvSpPr/>
          <p:nvPr/>
        </p:nvSpPr>
        <p:spPr>
          <a:xfrm>
            <a:off x="400050" y="5024596"/>
            <a:ext cx="4014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YOLO9000: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00050" y="5196046"/>
            <a:ext cx="40147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Extensão do YOLOv2 capaz de detectar mais de 9000 categorias de objetos usando uma abordagem hierárquica de classificação (WordTree).</a:t>
            </a:r>
            <a:endParaRPr lang="en-US" sz="9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637537"/>
            <a:ext cx="4171950" cy="1256909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686300" y="3541151"/>
            <a:ext cx="16033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Darknet-19:</a:t>
            </a:r>
            <a:endParaRPr lang="en-US" sz="1080" dirty="0"/>
          </a:p>
        </p:txBody>
      </p:sp>
      <p:sp>
        <p:nvSpPr>
          <p:cNvPr id="27" name="Text 23"/>
          <p:cNvSpPr/>
          <p:nvPr/>
        </p:nvSpPr>
        <p:spPr>
          <a:xfrm>
            <a:off x="4857750" y="3842751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camadas convolucionais</a:t>
            </a:r>
            <a:endParaRPr lang="en-US" sz="1080" dirty="0"/>
          </a:p>
        </p:txBody>
      </p:sp>
      <p:sp>
        <p:nvSpPr>
          <p:cNvPr id="28" name="Text 24"/>
          <p:cNvSpPr/>
          <p:nvPr/>
        </p:nvSpPr>
        <p:spPr>
          <a:xfrm>
            <a:off x="4857750" y="4062199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camadas de max pooling</a:t>
            </a:r>
            <a:endParaRPr lang="en-US" sz="1080" dirty="0"/>
          </a:p>
        </p:txBody>
      </p:sp>
      <p:sp>
        <p:nvSpPr>
          <p:cNvPr id="29" name="Text 25"/>
          <p:cNvSpPr/>
          <p:nvPr/>
        </p:nvSpPr>
        <p:spPr>
          <a:xfrm>
            <a:off x="4857750" y="4281646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Mais eficiente que a VGG-16 usada no YOLO original</a:t>
            </a:r>
            <a:endParaRPr lang="en-US" sz="1080" dirty="0"/>
          </a:p>
        </p:txBody>
      </p:sp>
      <p:sp>
        <p:nvSpPr>
          <p:cNvPr id="30" name="Text 26"/>
          <p:cNvSpPr/>
          <p:nvPr/>
        </p:nvSpPr>
        <p:spPr>
          <a:xfrm>
            <a:off x="4857750" y="4501093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3x mais rápido com precisão comparável</a:t>
            </a:r>
            <a:endParaRPr lang="en-US" sz="1080" dirty="0"/>
          </a:p>
        </p:txBody>
      </p:sp>
      <p:sp>
        <p:nvSpPr>
          <p:cNvPr id="31" name="Shape 27"/>
          <p:cNvSpPr/>
          <p:nvPr/>
        </p:nvSpPr>
        <p:spPr>
          <a:xfrm>
            <a:off x="4686300" y="4891990"/>
            <a:ext cx="4171950" cy="1382985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2" name="Text 28"/>
          <p:cNvSpPr/>
          <p:nvPr/>
        </p:nvSpPr>
        <p:spPr>
          <a:xfrm>
            <a:off x="4800600" y="5006290"/>
            <a:ext cx="401478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Resultados:</a:t>
            </a:r>
            <a:endParaRPr lang="en-US" sz="1080" dirty="0"/>
          </a:p>
        </p:txBody>
      </p:sp>
      <p:sp>
        <p:nvSpPr>
          <p:cNvPr id="33" name="Text 29"/>
          <p:cNvSpPr/>
          <p:nvPr/>
        </p:nvSpPr>
        <p:spPr>
          <a:xfrm>
            <a:off x="4800600" y="5282887"/>
            <a:ext cx="1985963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YOLOv2 (VOC 2007):</a:t>
            </a:r>
            <a:endParaRPr lang="en-US" sz="1080" dirty="0"/>
          </a:p>
        </p:txBody>
      </p:sp>
      <p:sp>
        <p:nvSpPr>
          <p:cNvPr id="34" name="Text 30"/>
          <p:cNvSpPr/>
          <p:nvPr/>
        </p:nvSpPr>
        <p:spPr>
          <a:xfrm>
            <a:off x="4800600" y="5502334"/>
            <a:ext cx="1985963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mAP: 76.8%</a:t>
            </a:r>
            <a:endParaRPr lang="en-US" sz="1080" dirty="0"/>
          </a:p>
        </p:txBody>
      </p:sp>
      <p:sp>
        <p:nvSpPr>
          <p:cNvPr id="35" name="Text 31"/>
          <p:cNvSpPr/>
          <p:nvPr/>
        </p:nvSpPr>
        <p:spPr>
          <a:xfrm>
            <a:off x="4800600" y="5721781"/>
            <a:ext cx="1985963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FPS: 67 (Titan X)</a:t>
            </a:r>
            <a:endParaRPr lang="en-US" sz="1080" dirty="0"/>
          </a:p>
        </p:txBody>
      </p:sp>
      <p:sp>
        <p:nvSpPr>
          <p:cNvPr id="36" name="Text 32"/>
          <p:cNvSpPr/>
          <p:nvPr/>
        </p:nvSpPr>
        <p:spPr>
          <a:xfrm>
            <a:off x="6829425" y="5282887"/>
            <a:ext cx="1985963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YOLOv2 (COCO):</a:t>
            </a:r>
            <a:endParaRPr lang="en-US" sz="1080" dirty="0"/>
          </a:p>
        </p:txBody>
      </p:sp>
      <p:sp>
        <p:nvSpPr>
          <p:cNvPr id="37" name="Text 33"/>
          <p:cNvSpPr/>
          <p:nvPr/>
        </p:nvSpPr>
        <p:spPr>
          <a:xfrm>
            <a:off x="6829425" y="5502334"/>
            <a:ext cx="1985963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mAP: 44.0%</a:t>
            </a:r>
            <a:endParaRPr lang="en-US" sz="1080" dirty="0"/>
          </a:p>
        </p:txBody>
      </p:sp>
      <p:sp>
        <p:nvSpPr>
          <p:cNvPr id="38" name="Text 34"/>
          <p:cNvSpPr/>
          <p:nvPr/>
        </p:nvSpPr>
        <p:spPr>
          <a:xfrm>
            <a:off x="6829425" y="5721781"/>
            <a:ext cx="1985963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FPS: 40-90 (dependendo da resolução)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1996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480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52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Evolução do YOLO: YOLOv3</a:t>
            </a:r>
            <a:endParaRPr lang="en-US" sz="2520" dirty="0"/>
          </a:p>
        </p:txBody>
      </p:sp>
      <p:sp>
        <p:nvSpPr>
          <p:cNvPr id="4" name="Shape 1"/>
          <p:cNvSpPr/>
          <p:nvPr/>
        </p:nvSpPr>
        <p:spPr>
          <a:xfrm>
            <a:off x="285750" y="937254"/>
            <a:ext cx="571500" cy="285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226576"/>
            <a:ext cx="61263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YOLOv3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826945" y="1226576"/>
            <a:ext cx="277797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Publicado em 2018 por Redmon e Farhadi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285750" y="1528176"/>
            <a:ext cx="424338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Incremento significativo em precisão com pequeno sacrifício de velocidade. Foco em melhorar a detecção de objetos pequenos.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285750" y="2138521"/>
            <a:ext cx="42433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Principais melhorias: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464344" y="2427843"/>
            <a:ext cx="82608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Darknet-53: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428625" y="2577862"/>
            <a:ext cx="3875708" cy="37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 backbone com 53 camadas convolucionais, inspirada em redes residuais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464344" y="3016756"/>
            <a:ext cx="2137404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Detecção em múltiplas escalas: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428626" y="3173753"/>
            <a:ext cx="3934950" cy="16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Previsões em três diferentes escalas da imagem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464344" y="3477081"/>
            <a:ext cx="2471793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Melhor predição de bounding boxes: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428626" y="3648366"/>
            <a:ext cx="3949015" cy="16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de 9 anchor boxes (3 para cada escala)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464344" y="4001700"/>
            <a:ext cx="199963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Função de perda aprimorada: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400051" y="4176557"/>
            <a:ext cx="4015009" cy="16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cross-entropy para cada classe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464344" y="4526319"/>
            <a:ext cx="217490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Pyramid Network (FPN):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428626" y="4658313"/>
            <a:ext cx="3948065" cy="16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Combinação de features de diferentes resoluções</a:t>
            </a:r>
            <a:endParaRPr lang="en-US" sz="1080" dirty="0"/>
          </a:p>
        </p:txBody>
      </p:sp>
      <p:pic>
        <p:nvPicPr>
          <p:cNvPr id="33" name="Image 1"/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876307" y="418596"/>
            <a:ext cx="3791936" cy="1614267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897677" y="2126101"/>
            <a:ext cx="16033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Darknet-53:</a:t>
            </a:r>
            <a:endParaRPr lang="en-US" sz="1080" dirty="0"/>
          </a:p>
        </p:txBody>
      </p:sp>
      <p:sp>
        <p:nvSpPr>
          <p:cNvPr id="35" name="Text 31"/>
          <p:cNvSpPr/>
          <p:nvPr/>
        </p:nvSpPr>
        <p:spPr>
          <a:xfrm>
            <a:off x="4889065" y="2435530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 camadas convolucionais</a:t>
            </a:r>
            <a:endParaRPr lang="en-US" sz="1080" dirty="0"/>
          </a:p>
        </p:txBody>
      </p:sp>
      <p:sp>
        <p:nvSpPr>
          <p:cNvPr id="36" name="Text 32"/>
          <p:cNvSpPr/>
          <p:nvPr/>
        </p:nvSpPr>
        <p:spPr>
          <a:xfrm>
            <a:off x="4881236" y="2717608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Conexões residuais (skip connections)</a:t>
            </a:r>
            <a:endParaRPr lang="en-US" sz="1080" dirty="0"/>
          </a:p>
        </p:txBody>
      </p:sp>
      <p:sp>
        <p:nvSpPr>
          <p:cNvPr id="37" name="Text 33"/>
          <p:cNvSpPr/>
          <p:nvPr/>
        </p:nvSpPr>
        <p:spPr>
          <a:xfrm>
            <a:off x="4873408" y="2937055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Upsampling para combinar features de diferentes escalas</a:t>
            </a:r>
            <a:endParaRPr lang="en-US" sz="1080" dirty="0"/>
          </a:p>
        </p:txBody>
      </p:sp>
      <p:sp>
        <p:nvSpPr>
          <p:cNvPr id="38" name="Text 34"/>
          <p:cNvSpPr/>
          <p:nvPr/>
        </p:nvSpPr>
        <p:spPr>
          <a:xfrm>
            <a:off x="4873408" y="3179989"/>
            <a:ext cx="4071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Mais eficiente que ResNet-101 e ResNet-152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tângulo 54">
            <a:extLst>
              <a:ext uri="{FF2B5EF4-FFF2-40B4-BE49-F238E27FC236}">
                <a16:creationId xmlns:a16="http://schemas.microsoft.com/office/drawing/2014/main" id="{4E5D19E1-AEA5-0351-8898-BAB2FD7F4D73}"/>
              </a:ext>
            </a:extLst>
          </p:cNvPr>
          <p:cNvSpPr/>
          <p:nvPr/>
        </p:nvSpPr>
        <p:spPr>
          <a:xfrm>
            <a:off x="323133" y="2575076"/>
            <a:ext cx="3922212" cy="2035479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117DE519-9EE4-8A31-C7EC-CEEF427DEC58}"/>
              </a:ext>
            </a:extLst>
          </p:cNvPr>
          <p:cNvSpPr/>
          <p:nvPr/>
        </p:nvSpPr>
        <p:spPr>
          <a:xfrm>
            <a:off x="4722997" y="486840"/>
            <a:ext cx="4171950" cy="1879029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" name="Text 36">
            <a:extLst>
              <a:ext uri="{FF2B5EF4-FFF2-40B4-BE49-F238E27FC236}">
                <a16:creationId xmlns:a16="http://schemas.microsoft.com/office/drawing/2014/main" id="{087DAF37-48A6-5A7F-65C3-E896A703B14A}"/>
              </a:ext>
            </a:extLst>
          </p:cNvPr>
          <p:cNvSpPr/>
          <p:nvPr/>
        </p:nvSpPr>
        <p:spPr>
          <a:xfrm>
            <a:off x="4743450" y="660639"/>
            <a:ext cx="401478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Impacto:</a:t>
            </a:r>
            <a:endParaRPr lang="en-US" sz="1080" dirty="0"/>
          </a:p>
        </p:txBody>
      </p:sp>
      <p:sp>
        <p:nvSpPr>
          <p:cNvPr id="3" name="Text 37">
            <a:extLst>
              <a:ext uri="{FF2B5EF4-FFF2-40B4-BE49-F238E27FC236}">
                <a16:creationId xmlns:a16="http://schemas.microsoft.com/office/drawing/2014/main" id="{AFBDFE87-3741-C4DB-F252-5C01A3A33894}"/>
              </a:ext>
            </a:extLst>
          </p:cNvPr>
          <p:cNvSpPr/>
          <p:nvPr/>
        </p:nvSpPr>
        <p:spPr>
          <a:xfrm>
            <a:off x="4743450" y="937236"/>
            <a:ext cx="4014788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YOLOv3 alcançou um equilíbrio entre precisão e velocidade que o tornou aplicável em diversos cenários do mundo real, desde sistemas embarcados até aplicações em nuvem.</a:t>
            </a:r>
            <a:endParaRPr lang="en-US" sz="1080" dirty="0"/>
          </a:p>
        </p:txBody>
      </p:sp>
      <p:sp>
        <p:nvSpPr>
          <p:cNvPr id="4" name="Text 38">
            <a:extLst>
              <a:ext uri="{FF2B5EF4-FFF2-40B4-BE49-F238E27FC236}">
                <a16:creationId xmlns:a16="http://schemas.microsoft.com/office/drawing/2014/main" id="{3D722DDA-5955-716F-C6B6-5DB4C5A0FE19}"/>
              </a:ext>
            </a:extLst>
          </p:cNvPr>
          <p:cNvSpPr/>
          <p:nvPr/>
        </p:nvSpPr>
        <p:spPr>
          <a:xfrm>
            <a:off x="4743450" y="1652727"/>
            <a:ext cx="4014788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Tornou-se uma das arquiteturas mais populares para detecção de objetos em tempo real, sendo amplamente adotado na indústria.</a:t>
            </a:r>
            <a:endParaRPr lang="en-US" sz="1080" dirty="0"/>
          </a:p>
        </p:txBody>
      </p:sp>
      <p:sp>
        <p:nvSpPr>
          <p:cNvPr id="5" name="Text 36">
            <a:extLst>
              <a:ext uri="{FF2B5EF4-FFF2-40B4-BE49-F238E27FC236}">
                <a16:creationId xmlns:a16="http://schemas.microsoft.com/office/drawing/2014/main" id="{2E4E6CC9-9171-A18E-26A5-186D2DC65CF6}"/>
              </a:ext>
            </a:extLst>
          </p:cNvPr>
          <p:cNvSpPr/>
          <p:nvPr/>
        </p:nvSpPr>
        <p:spPr>
          <a:xfrm>
            <a:off x="4743450" y="660639"/>
            <a:ext cx="401478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Impacto:</a:t>
            </a:r>
            <a:endParaRPr lang="en-US" sz="1080" dirty="0"/>
          </a:p>
        </p:txBody>
      </p:sp>
      <p:sp>
        <p:nvSpPr>
          <p:cNvPr id="6" name="Text 37">
            <a:extLst>
              <a:ext uri="{FF2B5EF4-FFF2-40B4-BE49-F238E27FC236}">
                <a16:creationId xmlns:a16="http://schemas.microsoft.com/office/drawing/2014/main" id="{4C15DED8-6D49-EA5A-1A05-D78CAB0E50FA}"/>
              </a:ext>
            </a:extLst>
          </p:cNvPr>
          <p:cNvSpPr/>
          <p:nvPr/>
        </p:nvSpPr>
        <p:spPr>
          <a:xfrm>
            <a:off x="4743450" y="937236"/>
            <a:ext cx="4014788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YOLOv3 alcançou um equilíbrio entre precisão e velocidade que o tornou aplicável em diversos cenários do mundo real, desde sistemas embarcados até aplicações em nuvem.</a:t>
            </a:r>
            <a:endParaRPr lang="en-US" sz="1080" dirty="0"/>
          </a:p>
        </p:txBody>
      </p:sp>
      <p:sp>
        <p:nvSpPr>
          <p:cNvPr id="7" name="Text 38">
            <a:extLst>
              <a:ext uri="{FF2B5EF4-FFF2-40B4-BE49-F238E27FC236}">
                <a16:creationId xmlns:a16="http://schemas.microsoft.com/office/drawing/2014/main" id="{4BEBB4DD-EE79-DA5E-CE02-971D1EC1D975}"/>
              </a:ext>
            </a:extLst>
          </p:cNvPr>
          <p:cNvSpPr/>
          <p:nvPr/>
        </p:nvSpPr>
        <p:spPr>
          <a:xfrm>
            <a:off x="4743450" y="1652727"/>
            <a:ext cx="4014788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Tornou-se uma das arquiteturas mais populares para detecção de objetos em tempo real, sendo amplamente adotado na indústria.</a:t>
            </a:r>
            <a:endParaRPr lang="en-US" sz="1080" dirty="0"/>
          </a:p>
        </p:txBody>
      </p:sp>
      <p:sp>
        <p:nvSpPr>
          <p:cNvPr id="8" name="Text 36">
            <a:extLst>
              <a:ext uri="{FF2B5EF4-FFF2-40B4-BE49-F238E27FC236}">
                <a16:creationId xmlns:a16="http://schemas.microsoft.com/office/drawing/2014/main" id="{2C96818B-76C5-77CC-712A-DA3AE00EE605}"/>
              </a:ext>
            </a:extLst>
          </p:cNvPr>
          <p:cNvSpPr/>
          <p:nvPr/>
        </p:nvSpPr>
        <p:spPr>
          <a:xfrm>
            <a:off x="4743450" y="660639"/>
            <a:ext cx="401478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Impacto:</a:t>
            </a:r>
            <a:endParaRPr lang="en-US" sz="1080" dirty="0"/>
          </a:p>
        </p:txBody>
      </p:sp>
      <p:sp>
        <p:nvSpPr>
          <p:cNvPr id="9" name="Text 37">
            <a:extLst>
              <a:ext uri="{FF2B5EF4-FFF2-40B4-BE49-F238E27FC236}">
                <a16:creationId xmlns:a16="http://schemas.microsoft.com/office/drawing/2014/main" id="{7518F82F-9084-E2F5-4B51-579E08A83250}"/>
              </a:ext>
            </a:extLst>
          </p:cNvPr>
          <p:cNvSpPr/>
          <p:nvPr/>
        </p:nvSpPr>
        <p:spPr>
          <a:xfrm>
            <a:off x="4743450" y="937236"/>
            <a:ext cx="4014788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YOLOv3 alcançou um equilíbrio entre precisão e velocidade que o tornou aplicável em diversos cenários do mundo real, desde sistemas embarcados até aplicações em nuvem.</a:t>
            </a:r>
            <a:endParaRPr lang="en-US" sz="1080" dirty="0"/>
          </a:p>
        </p:txBody>
      </p:sp>
      <p:sp>
        <p:nvSpPr>
          <p:cNvPr id="10" name="Text 38">
            <a:extLst>
              <a:ext uri="{FF2B5EF4-FFF2-40B4-BE49-F238E27FC236}">
                <a16:creationId xmlns:a16="http://schemas.microsoft.com/office/drawing/2014/main" id="{035FDDD7-ABD9-B95D-DC74-88E299FDE3ED}"/>
              </a:ext>
            </a:extLst>
          </p:cNvPr>
          <p:cNvSpPr/>
          <p:nvPr/>
        </p:nvSpPr>
        <p:spPr>
          <a:xfrm>
            <a:off x="4743450" y="1652727"/>
            <a:ext cx="4014788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Tornou-se uma das arquiteturas mais populares para detecção de objetos em tempo real, sendo amplamente adotado na indústria.</a:t>
            </a:r>
            <a:endParaRPr lang="en-US" sz="1080" dirty="0"/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3C9BA5EC-2594-62B4-C31F-14BBB7346F52}"/>
              </a:ext>
            </a:extLst>
          </p:cNvPr>
          <p:cNvSpPr/>
          <p:nvPr/>
        </p:nvSpPr>
        <p:spPr>
          <a:xfrm>
            <a:off x="4743450" y="660639"/>
            <a:ext cx="401478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Impacto:</a:t>
            </a:r>
            <a:endParaRPr lang="en-US" sz="1080" dirty="0"/>
          </a:p>
        </p:txBody>
      </p:sp>
      <p:sp>
        <p:nvSpPr>
          <p:cNvPr id="12" name="Text 37">
            <a:extLst>
              <a:ext uri="{FF2B5EF4-FFF2-40B4-BE49-F238E27FC236}">
                <a16:creationId xmlns:a16="http://schemas.microsoft.com/office/drawing/2014/main" id="{AEA6B209-41AA-8430-FD56-BB4692C37599}"/>
              </a:ext>
            </a:extLst>
          </p:cNvPr>
          <p:cNvSpPr/>
          <p:nvPr/>
        </p:nvSpPr>
        <p:spPr>
          <a:xfrm>
            <a:off x="4743450" y="937236"/>
            <a:ext cx="4014788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YOLOv3 alcançou um equilíbrio entre precisão e velocidade que o tornou aplicável em diversos cenários do mundo real, desde sistemas embarcados até aplicações em nuvem.</a:t>
            </a:r>
            <a:endParaRPr lang="en-US" sz="1080" dirty="0"/>
          </a:p>
        </p:txBody>
      </p:sp>
      <p:sp>
        <p:nvSpPr>
          <p:cNvPr id="13" name="Text 38">
            <a:extLst>
              <a:ext uri="{FF2B5EF4-FFF2-40B4-BE49-F238E27FC236}">
                <a16:creationId xmlns:a16="http://schemas.microsoft.com/office/drawing/2014/main" id="{C6853E9E-5602-BD1E-A16C-8753EE1C4B6F}"/>
              </a:ext>
            </a:extLst>
          </p:cNvPr>
          <p:cNvSpPr/>
          <p:nvPr/>
        </p:nvSpPr>
        <p:spPr>
          <a:xfrm>
            <a:off x="4743450" y="1652727"/>
            <a:ext cx="4014788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Tornou-se uma das arquiteturas mais populares para detecção de objetos em tempo real, sendo amplamente adotado na indústria.</a:t>
            </a:r>
            <a:endParaRPr lang="en-US" sz="108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5C957BD3-02E5-5EFC-1AE1-CC3881C2527C}"/>
              </a:ext>
            </a:extLst>
          </p:cNvPr>
          <p:cNvSpPr/>
          <p:nvPr/>
        </p:nvSpPr>
        <p:spPr>
          <a:xfrm>
            <a:off x="700088" y="2797085"/>
            <a:ext cx="4014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Comparação com versões anteriores:</a:t>
            </a:r>
            <a:endParaRPr lang="en-US" sz="9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5D7E2B4E-637D-25DC-668A-97B2DDEA52E6}"/>
              </a:ext>
            </a:extLst>
          </p:cNvPr>
          <p:cNvSpPr/>
          <p:nvPr/>
        </p:nvSpPr>
        <p:spPr>
          <a:xfrm>
            <a:off x="700088" y="3025685"/>
            <a:ext cx="1011092" cy="289322"/>
          </a:xfrm>
          <a:prstGeom prst="rect">
            <a:avLst/>
          </a:prstGeom>
          <a:noFill/>
          <a:ln/>
        </p:spPr>
        <p:txBody>
          <a:bodyPr wrap="non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Versão</a:t>
            </a:r>
            <a:endParaRPr lang="en-US" sz="900" dirty="0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0E19E073-B10E-9A80-F91D-15812A66485F}"/>
              </a:ext>
            </a:extLst>
          </p:cNvPr>
          <p:cNvSpPr/>
          <p:nvPr/>
        </p:nvSpPr>
        <p:spPr>
          <a:xfrm>
            <a:off x="1639742" y="3025685"/>
            <a:ext cx="1573271" cy="289322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(COCO)</a:t>
            </a:r>
            <a:endParaRPr lang="en-US" sz="9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897B1432-577F-DBAD-920C-5B1BCD9F23BB}"/>
              </a:ext>
            </a:extLst>
          </p:cNvPr>
          <p:cNvSpPr/>
          <p:nvPr/>
        </p:nvSpPr>
        <p:spPr>
          <a:xfrm>
            <a:off x="3141576" y="3025685"/>
            <a:ext cx="1573299" cy="289322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 (Titan X)</a:t>
            </a:r>
            <a:endParaRPr lang="en-US" sz="900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1E5DC87A-042F-FCD7-824C-EC98DC1B9E86}"/>
              </a:ext>
            </a:extLst>
          </p:cNvPr>
          <p:cNvSpPr/>
          <p:nvPr/>
        </p:nvSpPr>
        <p:spPr>
          <a:xfrm>
            <a:off x="700088" y="3315006"/>
            <a:ext cx="1011092" cy="292894"/>
          </a:xfrm>
          <a:prstGeom prst="rect">
            <a:avLst/>
          </a:prstGeom>
          <a:noFill/>
          <a:ln/>
        </p:spPr>
        <p:txBody>
          <a:bodyPr wrap="non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YOLOv1</a:t>
            </a:r>
            <a:endParaRPr lang="en-US" sz="900" dirty="0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10E8CD29-D43F-078F-037B-F641DD4D1CA4}"/>
              </a:ext>
            </a:extLst>
          </p:cNvPr>
          <p:cNvSpPr/>
          <p:nvPr/>
        </p:nvSpPr>
        <p:spPr>
          <a:xfrm>
            <a:off x="1639742" y="3315006"/>
            <a:ext cx="1573271" cy="292894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21.6%</a:t>
            </a:r>
            <a:endParaRPr lang="en-US" sz="90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98B05A68-2A23-7006-CA81-C4569A314DED}"/>
              </a:ext>
            </a:extLst>
          </p:cNvPr>
          <p:cNvSpPr/>
          <p:nvPr/>
        </p:nvSpPr>
        <p:spPr>
          <a:xfrm>
            <a:off x="3141576" y="3315006"/>
            <a:ext cx="1573299" cy="292894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90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AA292361-0BF9-191B-CFFE-5DCC8A2BB3E3}"/>
              </a:ext>
            </a:extLst>
          </p:cNvPr>
          <p:cNvSpPr/>
          <p:nvPr/>
        </p:nvSpPr>
        <p:spPr>
          <a:xfrm>
            <a:off x="700088" y="3607901"/>
            <a:ext cx="1011092" cy="292894"/>
          </a:xfrm>
          <a:prstGeom prst="rect">
            <a:avLst/>
          </a:prstGeom>
          <a:noFill/>
          <a:ln/>
        </p:spPr>
        <p:txBody>
          <a:bodyPr wrap="non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YOLOv2</a:t>
            </a:r>
            <a:endParaRPr lang="en-US" sz="900" dirty="0"/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CBC600B6-AD37-0EEB-2478-F17255B8E76C}"/>
              </a:ext>
            </a:extLst>
          </p:cNvPr>
          <p:cNvSpPr/>
          <p:nvPr/>
        </p:nvSpPr>
        <p:spPr>
          <a:xfrm>
            <a:off x="1639742" y="3607901"/>
            <a:ext cx="1573271" cy="292894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44.0%</a:t>
            </a:r>
            <a:endParaRPr lang="en-US" sz="900" dirty="0"/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91D2AF32-CB6E-4D10-C98B-57CF61D61C51}"/>
              </a:ext>
            </a:extLst>
          </p:cNvPr>
          <p:cNvSpPr/>
          <p:nvPr/>
        </p:nvSpPr>
        <p:spPr>
          <a:xfrm>
            <a:off x="3141576" y="3607901"/>
            <a:ext cx="1573299" cy="292894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40-90</a:t>
            </a:r>
            <a:endParaRPr lang="en-US" sz="900" dirty="0"/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40C72E69-31B5-D22E-54C0-6477EE271DFC}"/>
              </a:ext>
            </a:extLst>
          </p:cNvPr>
          <p:cNvSpPr/>
          <p:nvPr/>
        </p:nvSpPr>
        <p:spPr>
          <a:xfrm>
            <a:off x="700088" y="3900794"/>
            <a:ext cx="1011092" cy="289322"/>
          </a:xfrm>
          <a:prstGeom prst="rect">
            <a:avLst/>
          </a:prstGeom>
          <a:noFill/>
          <a:ln/>
        </p:spPr>
        <p:txBody>
          <a:bodyPr wrap="non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YOLOv3</a:t>
            </a:r>
            <a:endParaRPr lang="en-US" sz="900" dirty="0"/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EDF267E7-5D55-01A7-B02D-F7151F7CD20A}"/>
              </a:ext>
            </a:extLst>
          </p:cNvPr>
          <p:cNvSpPr/>
          <p:nvPr/>
        </p:nvSpPr>
        <p:spPr>
          <a:xfrm>
            <a:off x="1639742" y="3900794"/>
            <a:ext cx="1573271" cy="289322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57.9%</a:t>
            </a:r>
            <a:endParaRPr lang="en-US" sz="900" dirty="0"/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435A5C8D-B053-B071-C3B9-EB2D8B17F9B8}"/>
              </a:ext>
            </a:extLst>
          </p:cNvPr>
          <p:cNvSpPr/>
          <p:nvPr/>
        </p:nvSpPr>
        <p:spPr>
          <a:xfrm>
            <a:off x="3141576" y="3900794"/>
            <a:ext cx="1573299" cy="289322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20-35</a:t>
            </a:r>
            <a:endParaRPr lang="en-US" sz="900" dirty="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036D0EF2-A7F9-CEE3-CF13-E1C2CB966CC3}"/>
              </a:ext>
            </a:extLst>
          </p:cNvPr>
          <p:cNvSpPr/>
          <p:nvPr/>
        </p:nvSpPr>
        <p:spPr>
          <a:xfrm>
            <a:off x="700088" y="2797085"/>
            <a:ext cx="4014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Comparação com versões anteriores:</a:t>
            </a:r>
            <a:endParaRPr lang="en-US" sz="90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7FA23532-ADFB-6BB3-27A8-8B4645018A95}"/>
              </a:ext>
            </a:extLst>
          </p:cNvPr>
          <p:cNvSpPr/>
          <p:nvPr/>
        </p:nvSpPr>
        <p:spPr>
          <a:xfrm>
            <a:off x="700088" y="3025685"/>
            <a:ext cx="1011092" cy="289322"/>
          </a:xfrm>
          <a:prstGeom prst="rect">
            <a:avLst/>
          </a:prstGeom>
          <a:noFill/>
          <a:ln/>
        </p:spPr>
        <p:txBody>
          <a:bodyPr wrap="non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Versão</a:t>
            </a:r>
            <a:endParaRPr lang="en-US" sz="9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9E02BB83-C12F-FEAE-D4D0-A0F4B2C39E9E}"/>
              </a:ext>
            </a:extLst>
          </p:cNvPr>
          <p:cNvSpPr/>
          <p:nvPr/>
        </p:nvSpPr>
        <p:spPr>
          <a:xfrm>
            <a:off x="1639742" y="3025685"/>
            <a:ext cx="1573271" cy="289322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(COCO)</a:t>
            </a:r>
            <a:endParaRPr lang="en-US" sz="90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D08BD380-9D99-6C45-DF7D-CB24FC5DDE55}"/>
              </a:ext>
            </a:extLst>
          </p:cNvPr>
          <p:cNvSpPr/>
          <p:nvPr/>
        </p:nvSpPr>
        <p:spPr>
          <a:xfrm>
            <a:off x="3141576" y="3025685"/>
            <a:ext cx="1573299" cy="289322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 (Titan X)</a:t>
            </a:r>
            <a:endParaRPr lang="en-US" sz="9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179D50B4-183D-870C-C39B-1F398DED01AA}"/>
              </a:ext>
            </a:extLst>
          </p:cNvPr>
          <p:cNvSpPr/>
          <p:nvPr/>
        </p:nvSpPr>
        <p:spPr>
          <a:xfrm>
            <a:off x="700088" y="3315006"/>
            <a:ext cx="1011092" cy="292894"/>
          </a:xfrm>
          <a:prstGeom prst="rect">
            <a:avLst/>
          </a:prstGeom>
          <a:noFill/>
          <a:ln/>
        </p:spPr>
        <p:txBody>
          <a:bodyPr wrap="non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YOLOv1</a:t>
            </a:r>
            <a:endParaRPr lang="en-US" sz="9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22F75AB5-723F-77C2-4198-2D2AAC16101B}"/>
              </a:ext>
            </a:extLst>
          </p:cNvPr>
          <p:cNvSpPr/>
          <p:nvPr/>
        </p:nvSpPr>
        <p:spPr>
          <a:xfrm>
            <a:off x="1639742" y="3315006"/>
            <a:ext cx="1573271" cy="292894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21.6%</a:t>
            </a:r>
            <a:endParaRPr lang="en-US" sz="900" dirty="0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E645CADA-2200-11AA-A462-BAD85440F6AD}"/>
              </a:ext>
            </a:extLst>
          </p:cNvPr>
          <p:cNvSpPr/>
          <p:nvPr/>
        </p:nvSpPr>
        <p:spPr>
          <a:xfrm>
            <a:off x="3141576" y="3315006"/>
            <a:ext cx="1573299" cy="292894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900" dirty="0"/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75355544-0A23-A619-1AC6-4FE31665A659}"/>
              </a:ext>
            </a:extLst>
          </p:cNvPr>
          <p:cNvSpPr/>
          <p:nvPr/>
        </p:nvSpPr>
        <p:spPr>
          <a:xfrm>
            <a:off x="700088" y="3607901"/>
            <a:ext cx="1011092" cy="292894"/>
          </a:xfrm>
          <a:prstGeom prst="rect">
            <a:avLst/>
          </a:prstGeom>
          <a:noFill/>
          <a:ln/>
        </p:spPr>
        <p:txBody>
          <a:bodyPr wrap="non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YOLOv2</a:t>
            </a:r>
            <a:endParaRPr lang="en-US" sz="900" dirty="0"/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97B83F12-DD86-3E6D-4DF0-95C03D0B8A07}"/>
              </a:ext>
            </a:extLst>
          </p:cNvPr>
          <p:cNvSpPr/>
          <p:nvPr/>
        </p:nvSpPr>
        <p:spPr>
          <a:xfrm>
            <a:off x="1639742" y="3607901"/>
            <a:ext cx="1573271" cy="292894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44.0%</a:t>
            </a:r>
            <a:endParaRPr lang="en-US" sz="900" dirty="0"/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356361EC-A418-1432-7F30-A5F610572BD1}"/>
              </a:ext>
            </a:extLst>
          </p:cNvPr>
          <p:cNvSpPr/>
          <p:nvPr/>
        </p:nvSpPr>
        <p:spPr>
          <a:xfrm>
            <a:off x="3141576" y="3607901"/>
            <a:ext cx="1573299" cy="292894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40-90</a:t>
            </a:r>
            <a:endParaRPr lang="en-US" sz="900" dirty="0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47AC5839-8061-FC63-7F16-E3F37E9AECCC}"/>
              </a:ext>
            </a:extLst>
          </p:cNvPr>
          <p:cNvSpPr/>
          <p:nvPr/>
        </p:nvSpPr>
        <p:spPr>
          <a:xfrm>
            <a:off x="700088" y="3900794"/>
            <a:ext cx="1011092" cy="289322"/>
          </a:xfrm>
          <a:prstGeom prst="rect">
            <a:avLst/>
          </a:prstGeom>
          <a:noFill/>
          <a:ln/>
        </p:spPr>
        <p:txBody>
          <a:bodyPr wrap="non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YOLOv3</a:t>
            </a:r>
            <a:endParaRPr lang="en-US" sz="900" dirty="0"/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B74BCEEC-2385-536A-4572-05FF27D93CCB}"/>
              </a:ext>
            </a:extLst>
          </p:cNvPr>
          <p:cNvSpPr/>
          <p:nvPr/>
        </p:nvSpPr>
        <p:spPr>
          <a:xfrm>
            <a:off x="1639742" y="3900794"/>
            <a:ext cx="1573271" cy="289322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57.9%</a:t>
            </a:r>
            <a:endParaRPr lang="en-US" sz="900" dirty="0"/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5035F2F6-D65B-08D1-F61D-A7CE605BF6CA}"/>
              </a:ext>
            </a:extLst>
          </p:cNvPr>
          <p:cNvSpPr/>
          <p:nvPr/>
        </p:nvSpPr>
        <p:spPr>
          <a:xfrm>
            <a:off x="3141576" y="3900794"/>
            <a:ext cx="1573299" cy="289322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20-35</a:t>
            </a:r>
            <a:endParaRPr lang="en-US" sz="900" dirty="0"/>
          </a:p>
        </p:txBody>
      </p:sp>
      <p:pic>
        <p:nvPicPr>
          <p:cNvPr id="56" name="Imagem 55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067B56D8-6B9B-EF4B-6975-DDE10C9C5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00050" y="177555"/>
            <a:ext cx="3764757" cy="221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375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146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480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52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Evolução do YOLO: YOLOv4, YOLOv5 e Além</a:t>
            </a:r>
            <a:endParaRPr lang="en-US" sz="2520" dirty="0"/>
          </a:p>
        </p:txBody>
      </p:sp>
      <p:sp>
        <p:nvSpPr>
          <p:cNvPr id="4" name="Shape 1"/>
          <p:cNvSpPr/>
          <p:nvPr/>
        </p:nvSpPr>
        <p:spPr>
          <a:xfrm>
            <a:off x="285750" y="937254"/>
            <a:ext cx="571500" cy="285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194429"/>
            <a:ext cx="8643938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evolução do YOLO continuou aceleradamente após o YOLOv3, com múltiplas ramificações e implementações:</a:t>
            </a:r>
            <a:endParaRPr lang="en-US" sz="1080" dirty="0"/>
          </a:p>
        </p:txBody>
      </p:sp>
      <p:sp>
        <p:nvSpPr>
          <p:cNvPr id="6" name="Shape 3"/>
          <p:cNvSpPr/>
          <p:nvPr/>
        </p:nvSpPr>
        <p:spPr>
          <a:xfrm>
            <a:off x="285750" y="1585326"/>
            <a:ext cx="2743200" cy="2428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400050" y="1699626"/>
            <a:ext cx="2586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YOLOv4 (2020)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400050" y="2006808"/>
            <a:ext cx="54136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Autores: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9975" y="2006808"/>
            <a:ext cx="13674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Bochkovskiy, Wang, Liao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2925" y="224255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CSPDarknet53 como backbone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2925" y="241400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SPP e PAN no pescoço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2925" y="258545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Técnicas de aumento de dados (Mosaic)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2925" y="275690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BoF (Bag of Freebies) e BoS (Bag of Specials)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2925" y="292835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mAP: 43.5% (COCO)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2925" y="309980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FPS: 65 (Tesla V100)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00050" y="3406983"/>
            <a:ext cx="1352931" cy="151805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17" name="Text 14"/>
          <p:cNvSpPr/>
          <p:nvPr/>
        </p:nvSpPr>
        <p:spPr>
          <a:xfrm>
            <a:off x="400050" y="3406983"/>
            <a:ext cx="1424369" cy="15180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675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Equilíbrio precisão/velocidade</a:t>
            </a:r>
            <a:endParaRPr lang="en-US" sz="675" dirty="0"/>
          </a:p>
        </p:txBody>
      </p:sp>
      <p:sp>
        <p:nvSpPr>
          <p:cNvPr id="18" name="Shape 15"/>
          <p:cNvSpPr/>
          <p:nvPr/>
        </p:nvSpPr>
        <p:spPr>
          <a:xfrm>
            <a:off x="3200400" y="1585326"/>
            <a:ext cx="2743200" cy="2428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3314700" y="1699626"/>
            <a:ext cx="2586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YOLOv5 (2020)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3314700" y="2006808"/>
            <a:ext cx="41422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Autor: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488" y="2006808"/>
            <a:ext cx="138622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Ultralytics (Glenn Jocher)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457575" y="224255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Implementação PyTorch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457575" y="241400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Múltiplos tamanhos (S, M, L, X)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457575" y="258545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Foco em produção e implantação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457575" y="275690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Auto-learning bounding boxes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457575" y="292835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mAP: 45.5% (YOLOv5x no COCO)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457575" y="309980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Exportação para múltiplas plataformas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314700" y="3406983"/>
            <a:ext cx="833642" cy="151805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29" name="Text 26"/>
          <p:cNvSpPr/>
          <p:nvPr/>
        </p:nvSpPr>
        <p:spPr>
          <a:xfrm>
            <a:off x="3314700" y="3406983"/>
            <a:ext cx="905080" cy="151805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675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Facilidade de uso</a:t>
            </a:r>
            <a:endParaRPr lang="en-US" sz="675" dirty="0"/>
          </a:p>
        </p:txBody>
      </p:sp>
      <p:sp>
        <p:nvSpPr>
          <p:cNvPr id="30" name="Shape 27"/>
          <p:cNvSpPr/>
          <p:nvPr/>
        </p:nvSpPr>
        <p:spPr>
          <a:xfrm>
            <a:off x="6115050" y="1585326"/>
            <a:ext cx="2743200" cy="2428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6229350" y="1699626"/>
            <a:ext cx="2586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YOLOv7/v8 (2022-2023)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6229350" y="2006808"/>
            <a:ext cx="54136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Autores: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699275" y="2006808"/>
            <a:ext cx="195800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Wang, Bochkovskiy, Liao / Ultralytics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372225" y="2242551"/>
            <a:ext cx="2443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E-ELAN (Extended Efficient Layer Aggregation Network)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372225" y="258545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composto e coevolução de escala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372225" y="275690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Treinamento auxiliar de cabeça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372225" y="2928351"/>
            <a:ext cx="2443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YOLOv8: Arquitetura unificada para múltiplas tarefas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372225" y="327125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mAP: 56.8% (YOLOv7 no COCO)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372225" y="3442701"/>
            <a:ext cx="2443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Suporte a segmentação e pose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229350" y="3749883"/>
            <a:ext cx="705055" cy="151805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41" name="Text 38"/>
          <p:cNvSpPr/>
          <p:nvPr/>
        </p:nvSpPr>
        <p:spPr>
          <a:xfrm>
            <a:off x="6229350" y="3749883"/>
            <a:ext cx="776492" cy="151805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>
              <a:buNone/>
            </a:pPr>
            <a:r>
              <a:rPr lang="en-US" sz="675" b="1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da arte</a:t>
            </a:r>
            <a:endParaRPr lang="en-US" sz="675" dirty="0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079" y="4242801"/>
            <a:ext cx="3807814" cy="2143097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285750" y="6557376"/>
            <a:ext cx="8572500" cy="77152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4" name="Text 40"/>
          <p:cNvSpPr/>
          <p:nvPr/>
        </p:nvSpPr>
        <p:spPr>
          <a:xfrm>
            <a:off x="400050" y="6671676"/>
            <a:ext cx="8415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Tendências recentes: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400050" y="6900276"/>
            <a:ext cx="2776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Multitarefa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400050" y="7071726"/>
            <a:ext cx="27765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Detecção + segmentação + pose</a:t>
            </a:r>
            <a:endParaRPr lang="en-US" sz="788" dirty="0"/>
          </a:p>
        </p:txBody>
      </p:sp>
      <p:sp>
        <p:nvSpPr>
          <p:cNvPr id="47" name="Text 43"/>
          <p:cNvSpPr/>
          <p:nvPr/>
        </p:nvSpPr>
        <p:spPr>
          <a:xfrm>
            <a:off x="3219431" y="6900276"/>
            <a:ext cx="27765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Eficiência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3219431" y="7071726"/>
            <a:ext cx="27765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Otimização para dispositivos móveis e edge</a:t>
            </a:r>
            <a:endParaRPr lang="en-US" sz="788" dirty="0"/>
          </a:p>
        </p:txBody>
      </p:sp>
      <p:sp>
        <p:nvSpPr>
          <p:cNvPr id="49" name="Text 45"/>
          <p:cNvSpPr/>
          <p:nvPr/>
        </p:nvSpPr>
        <p:spPr>
          <a:xfrm>
            <a:off x="6038841" y="6900276"/>
            <a:ext cx="2776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Transformers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6038841" y="7071726"/>
            <a:ext cx="27765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com arquiteturas de atenção</a:t>
            </a:r>
            <a:endParaRPr lang="en-US" sz="78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7379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480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52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Treinamento e Métricas</a:t>
            </a:r>
            <a:endParaRPr lang="en-US" sz="2520" dirty="0"/>
          </a:p>
        </p:txBody>
      </p:sp>
      <p:sp>
        <p:nvSpPr>
          <p:cNvPr id="4" name="Shape 1"/>
          <p:cNvSpPr/>
          <p:nvPr/>
        </p:nvSpPr>
        <p:spPr>
          <a:xfrm>
            <a:off x="285750" y="937254"/>
            <a:ext cx="571500" cy="285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194429"/>
            <a:ext cx="42433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 de Treinamento YOLO: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457200" y="1540901"/>
            <a:ext cx="145919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Preparação do dataset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628650" y="1756776"/>
            <a:ext cx="3900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Anotações em formato específico (x, y, w, h normalizados)</a:t>
            </a:r>
            <a:endParaRPr lang="en-US" sz="788" dirty="0"/>
          </a:p>
        </p:txBody>
      </p:sp>
      <p:sp>
        <p:nvSpPr>
          <p:cNvPr id="8" name="Text 5"/>
          <p:cNvSpPr/>
          <p:nvPr/>
        </p:nvSpPr>
        <p:spPr>
          <a:xfrm>
            <a:off x="628650" y="1899651"/>
            <a:ext cx="3900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Datasets comuns: COCO, Pascal VOC, Open Images</a:t>
            </a:r>
            <a:endParaRPr lang="en-US" sz="788" dirty="0"/>
          </a:p>
        </p:txBody>
      </p:sp>
      <p:sp>
        <p:nvSpPr>
          <p:cNvPr id="9" name="Text 6"/>
          <p:cNvSpPr/>
          <p:nvPr/>
        </p:nvSpPr>
        <p:spPr>
          <a:xfrm>
            <a:off x="457200" y="2131823"/>
            <a:ext cx="187065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Definição de hiperparâmetros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628650" y="2347699"/>
            <a:ext cx="3900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rate, batch size, épocas</a:t>
            </a:r>
            <a:endParaRPr lang="en-US" sz="788" dirty="0"/>
          </a:p>
        </p:txBody>
      </p:sp>
      <p:sp>
        <p:nvSpPr>
          <p:cNvPr id="11" name="Text 8"/>
          <p:cNvSpPr/>
          <p:nvPr/>
        </p:nvSpPr>
        <p:spPr>
          <a:xfrm>
            <a:off x="628650" y="2490574"/>
            <a:ext cx="3900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Anchor boxes (dimensões pré-definidas)</a:t>
            </a:r>
            <a:endParaRPr lang="en-US" sz="788" dirty="0"/>
          </a:p>
        </p:txBody>
      </p:sp>
      <p:sp>
        <p:nvSpPr>
          <p:cNvPr id="12" name="Text 9"/>
          <p:cNvSpPr/>
          <p:nvPr/>
        </p:nvSpPr>
        <p:spPr>
          <a:xfrm>
            <a:off x="457200" y="2722745"/>
            <a:ext cx="198526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Técnicas de aumento de dados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628650" y="2938621"/>
            <a:ext cx="3900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Mosaic, MixUp, CutMix</a:t>
            </a:r>
            <a:endParaRPr lang="en-US" sz="788" dirty="0"/>
          </a:p>
        </p:txBody>
      </p:sp>
      <p:sp>
        <p:nvSpPr>
          <p:cNvPr id="14" name="Text 11"/>
          <p:cNvSpPr/>
          <p:nvPr/>
        </p:nvSpPr>
        <p:spPr>
          <a:xfrm>
            <a:off x="628650" y="3081496"/>
            <a:ext cx="3900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scaling, cropping, flipping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457200" y="3313668"/>
            <a:ext cx="164189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Estratégias de otimização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628650" y="3529543"/>
            <a:ext cx="3900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SGD com momentum ou Adam</a:t>
            </a:r>
            <a:endParaRPr lang="en-US" sz="788" dirty="0"/>
          </a:p>
        </p:txBody>
      </p:sp>
      <p:sp>
        <p:nvSpPr>
          <p:cNvPr id="17" name="Text 14"/>
          <p:cNvSpPr/>
          <p:nvPr/>
        </p:nvSpPr>
        <p:spPr>
          <a:xfrm>
            <a:off x="628650" y="3672418"/>
            <a:ext cx="3900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rate scheduling</a:t>
            </a:r>
            <a:endParaRPr lang="en-US" sz="788" dirty="0"/>
          </a:p>
        </p:txBody>
      </p:sp>
      <p:sp>
        <p:nvSpPr>
          <p:cNvPr id="18" name="Text 15"/>
          <p:cNvSpPr/>
          <p:nvPr/>
        </p:nvSpPr>
        <p:spPr>
          <a:xfrm>
            <a:off x="457200" y="3904590"/>
            <a:ext cx="129117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Pós-processamento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628650" y="4120465"/>
            <a:ext cx="3900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Non-Maximum Suppression (NMS)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628650" y="4263340"/>
            <a:ext cx="3900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thresholding</a:t>
            </a:r>
            <a:endParaRPr lang="en-US" sz="788" dirty="0"/>
          </a:p>
        </p:txBody>
      </p:sp>
      <p:sp>
        <p:nvSpPr>
          <p:cNvPr id="21" name="Shape 18"/>
          <p:cNvSpPr/>
          <p:nvPr/>
        </p:nvSpPr>
        <p:spPr>
          <a:xfrm>
            <a:off x="285750" y="4577665"/>
            <a:ext cx="4171950" cy="11430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2" name="Text 19"/>
          <p:cNvSpPr/>
          <p:nvPr/>
        </p:nvSpPr>
        <p:spPr>
          <a:xfrm>
            <a:off x="400050" y="4691965"/>
            <a:ext cx="4014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Desafios no treinamento: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71500" y="4920565"/>
            <a:ext cx="3843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Desbalanceamento de classes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71500" y="5092015"/>
            <a:ext cx="3843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 de diferentes escalas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1500" y="5263465"/>
            <a:ext cx="3843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Oclusões e sobreposições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71500" y="5434915"/>
            <a:ext cx="3843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Requisitos computacionais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686300" y="1194429"/>
            <a:ext cx="42433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 de Avaliação:</a:t>
            </a:r>
            <a:endParaRPr lang="en-US" sz="1125" dirty="0"/>
          </a:p>
        </p:txBody>
      </p:sp>
      <p:sp>
        <p:nvSpPr>
          <p:cNvPr id="28" name="Shape 25"/>
          <p:cNvSpPr/>
          <p:nvPr/>
        </p:nvSpPr>
        <p:spPr>
          <a:xfrm>
            <a:off x="4686300" y="1508754"/>
            <a:ext cx="2028825" cy="1428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4800600" y="1623054"/>
            <a:ext cx="18716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IoU (Intersection over Union)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00600" y="1851654"/>
            <a:ext cx="18716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Medida de sobreposição entre bounding boxes previstas e ground truth.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800600" y="2423154"/>
            <a:ext cx="1800225" cy="40005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2" name="Text 29"/>
          <p:cNvSpPr/>
          <p:nvPr/>
        </p:nvSpPr>
        <p:spPr>
          <a:xfrm>
            <a:off x="4800600" y="2423154"/>
            <a:ext cx="1871663" cy="40005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IoU = Área de Interseção / Área de União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829425" y="1508754"/>
            <a:ext cx="2028825" cy="1428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6943725" y="1623054"/>
            <a:ext cx="18716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 &amp; Recall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943725" y="1851654"/>
            <a:ext cx="1871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Precision: Proporção de detecções corretas.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943725" y="2251704"/>
            <a:ext cx="1871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Recall: Proporção de objetos reais detectados.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686300" y="3051804"/>
            <a:ext cx="2028825" cy="9715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4800600" y="3166104"/>
            <a:ext cx="18716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(mean Average Precision)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800600" y="3394704"/>
            <a:ext cx="18716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Média das APs para todas as classes, considerando diferentes thresholds de IoU.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829425" y="3051804"/>
            <a:ext cx="2028825" cy="9715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8"/>
          <p:cNvSpPr/>
          <p:nvPr/>
        </p:nvSpPr>
        <p:spPr>
          <a:xfrm>
            <a:off x="6943725" y="3166104"/>
            <a:ext cx="18716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 (Frames Per Second)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943725" y="3394704"/>
            <a:ext cx="18716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Medida de velocidade de inferência, crucial para aplicações em tempo real.</a:t>
            </a:r>
            <a:endParaRPr lang="en-US" sz="90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295" y="4194804"/>
            <a:ext cx="3553960" cy="2000222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4686300" y="6309354"/>
            <a:ext cx="42433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de detecção com YOLO mostrando bounding boxes, classes e scores de confiança</a:t>
            </a:r>
            <a:endParaRPr lang="en-US" sz="78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5165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480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52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Aplicações Avançadas e Desafios</a:t>
            </a:r>
            <a:endParaRPr lang="en-US" sz="2520" dirty="0"/>
          </a:p>
        </p:txBody>
      </p:sp>
      <p:sp>
        <p:nvSpPr>
          <p:cNvPr id="4" name="Shape 1"/>
          <p:cNvSpPr/>
          <p:nvPr/>
        </p:nvSpPr>
        <p:spPr>
          <a:xfrm>
            <a:off x="285750" y="937254"/>
            <a:ext cx="571500" cy="285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194429"/>
            <a:ext cx="42433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Aplicações Avançadas: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285750" y="1508754"/>
            <a:ext cx="2028825" cy="11715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1623054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0088" y="1623054"/>
            <a:ext cx="119763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Veículos Autônomos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00050" y="1880229"/>
            <a:ext cx="18716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Detecção de pedestres, veículos, sinais de trânsito e obstáculos em tempo real.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428875" y="1508754"/>
            <a:ext cx="2028825" cy="11715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3175" y="1623054"/>
            <a:ext cx="192881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821781" y="1623054"/>
            <a:ext cx="12062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Vigilância Inteligente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2543175" y="1880229"/>
            <a:ext cx="18716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Monitoramento de multidões, detecção de comportamentos anômalos e rastreamento de objetos.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285750" y="2794629"/>
            <a:ext cx="2028825" cy="10001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2908929"/>
            <a:ext cx="192881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8656" y="2908929"/>
            <a:ext cx="11130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Inspeção Industrial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400050" y="3166104"/>
            <a:ext cx="18716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 de qualidade automatizado, detecção de defeitos em linhas de produção.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2428875" y="2794629"/>
            <a:ext cx="2028825" cy="10001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3175" y="2908929"/>
            <a:ext cx="171450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800350" y="2908929"/>
            <a:ext cx="13543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Sensoriamento Remoto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2543175" y="3166104"/>
            <a:ext cx="18716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 de imagens de satélite para monitoramento ambiental e agrícola.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4686300" y="1194429"/>
            <a:ext cx="42433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Desafios Atuais:</a:t>
            </a:r>
            <a:endParaRPr lang="en-US" sz="1125" dirty="0"/>
          </a:p>
        </p:txBody>
      </p:sp>
      <p:sp>
        <p:nvSpPr>
          <p:cNvPr id="24" name="Shape 16"/>
          <p:cNvSpPr/>
          <p:nvPr/>
        </p:nvSpPr>
        <p:spPr>
          <a:xfrm>
            <a:off x="4686300" y="1508754"/>
            <a:ext cx="4171950" cy="785813"/>
          </a:xfrm>
          <a:prstGeom prst="rect">
            <a:avLst/>
          </a:prstGeom>
          <a:solidFill>
            <a:srgbClr val="E74C3C">
              <a:alpha val="10000"/>
            </a:srgbClr>
          </a:solidFill>
          <a:ln/>
        </p:spPr>
      </p:sp>
      <p:sp>
        <p:nvSpPr>
          <p:cNvPr id="25" name="Shape 17"/>
          <p:cNvSpPr/>
          <p:nvPr/>
        </p:nvSpPr>
        <p:spPr>
          <a:xfrm>
            <a:off x="4686300" y="1508754"/>
            <a:ext cx="28575" cy="785813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18"/>
          <p:cNvSpPr/>
          <p:nvPr/>
        </p:nvSpPr>
        <p:spPr>
          <a:xfrm>
            <a:off x="4793456" y="1615911"/>
            <a:ext cx="40290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 Pequenos e Densos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4793456" y="1844511"/>
            <a:ext cx="402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Dificuldade em detectar objetos muito pequenos ou em cenas com alta densidade de objetos.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686300" y="2401723"/>
            <a:ext cx="4171950" cy="785813"/>
          </a:xfrm>
          <a:prstGeom prst="rect">
            <a:avLst/>
          </a:prstGeom>
          <a:solidFill>
            <a:srgbClr val="E74C3C">
              <a:alpha val="10000"/>
            </a:srgbClr>
          </a:solidFill>
          <a:ln/>
        </p:spPr>
      </p:sp>
      <p:sp>
        <p:nvSpPr>
          <p:cNvPr id="29" name="Shape 21"/>
          <p:cNvSpPr/>
          <p:nvPr/>
        </p:nvSpPr>
        <p:spPr>
          <a:xfrm>
            <a:off x="4686300" y="2401723"/>
            <a:ext cx="28575" cy="785813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Text 22"/>
          <p:cNvSpPr/>
          <p:nvPr/>
        </p:nvSpPr>
        <p:spPr>
          <a:xfrm>
            <a:off x="4793456" y="2508879"/>
            <a:ext cx="40290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Oclusões e Sobreposições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793456" y="2737479"/>
            <a:ext cx="402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 parcialmente visíveis ou sobrepostos ainda representam um desafio significativo.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4686300" y="3294692"/>
            <a:ext cx="4171950" cy="785813"/>
          </a:xfrm>
          <a:prstGeom prst="rect">
            <a:avLst/>
          </a:prstGeom>
          <a:solidFill>
            <a:srgbClr val="E74C3C">
              <a:alpha val="10000"/>
            </a:srgbClr>
          </a:solidFill>
          <a:ln/>
        </p:spPr>
      </p:sp>
      <p:sp>
        <p:nvSpPr>
          <p:cNvPr id="33" name="Shape 25"/>
          <p:cNvSpPr/>
          <p:nvPr/>
        </p:nvSpPr>
        <p:spPr>
          <a:xfrm>
            <a:off x="4686300" y="3294692"/>
            <a:ext cx="28575" cy="785813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4" name="Text 26"/>
          <p:cNvSpPr/>
          <p:nvPr/>
        </p:nvSpPr>
        <p:spPr>
          <a:xfrm>
            <a:off x="4793456" y="3401848"/>
            <a:ext cx="40290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Generalização entre Domínios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793456" y="3630448"/>
            <a:ext cx="402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Transferência de conhecimento entre diferentes domínios visuais (dia/noite, clima, etc).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686300" y="4187661"/>
            <a:ext cx="4171950" cy="785813"/>
          </a:xfrm>
          <a:prstGeom prst="rect">
            <a:avLst/>
          </a:prstGeom>
          <a:solidFill>
            <a:srgbClr val="E74C3C">
              <a:alpha val="10000"/>
            </a:srgbClr>
          </a:solidFill>
          <a:ln/>
        </p:spPr>
      </p:sp>
      <p:sp>
        <p:nvSpPr>
          <p:cNvPr id="37" name="Shape 29"/>
          <p:cNvSpPr/>
          <p:nvPr/>
        </p:nvSpPr>
        <p:spPr>
          <a:xfrm>
            <a:off x="4686300" y="4187661"/>
            <a:ext cx="28575" cy="785813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8" name="Text 30"/>
          <p:cNvSpPr/>
          <p:nvPr/>
        </p:nvSpPr>
        <p:spPr>
          <a:xfrm>
            <a:off x="4793456" y="4294817"/>
            <a:ext cx="40290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Eficiência Computacional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4793456" y="4523417"/>
            <a:ext cx="402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Equilíbrio entre precisão e velocidade para dispositivos com recursos limitados.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270875" y="3829690"/>
            <a:ext cx="42433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Direções Futuras: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442325" y="4058290"/>
            <a:ext cx="40719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com transformers e mecanismos de atenção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442325" y="4229740"/>
            <a:ext cx="40719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Aprendizado auto-supervisionado e semi-supervisionado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442325" y="4401190"/>
            <a:ext cx="40719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Detecção 3D e compreensão de cena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442325" y="4572640"/>
            <a:ext cx="40719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Modelos multimodais (visão + linguagem)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442325" y="4744090"/>
            <a:ext cx="40719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Otimização para edge computing e dispositivos móveis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480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52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Conclusão e Perguntas</a:t>
            </a:r>
            <a:endParaRPr lang="en-US" sz="2520" dirty="0"/>
          </a:p>
        </p:txBody>
      </p:sp>
      <p:sp>
        <p:nvSpPr>
          <p:cNvPr id="4" name="Shape 1"/>
          <p:cNvSpPr/>
          <p:nvPr/>
        </p:nvSpPr>
        <p:spPr>
          <a:xfrm>
            <a:off x="285750" y="937254"/>
            <a:ext cx="571500" cy="285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194429"/>
            <a:ext cx="42433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Pontos-Chave: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285750" y="1508754"/>
            <a:ext cx="4171950" cy="557213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1508754"/>
            <a:ext cx="28575" cy="557213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5"/>
          <p:cNvSpPr/>
          <p:nvPr/>
        </p:nvSpPr>
        <p:spPr>
          <a:xfrm>
            <a:off x="392906" y="1615911"/>
            <a:ext cx="402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redes YOLO revolucionaram a detecção de objetos ao unificar o processo em uma única passagem pela rede neural.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85750" y="2173123"/>
            <a:ext cx="4171950" cy="557213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" y="2173123"/>
            <a:ext cx="28575" cy="557213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8"/>
          <p:cNvSpPr/>
          <p:nvPr/>
        </p:nvSpPr>
        <p:spPr>
          <a:xfrm>
            <a:off x="392906" y="2280279"/>
            <a:ext cx="402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evolução do YOLO (v1 → v8+) demonstra o equilíbrio progressivo entre precisão e velocidade, tornando-o aplicável em diversos cenários.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85750" y="2837492"/>
            <a:ext cx="4171950" cy="557213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85750" y="2837492"/>
            <a:ext cx="28575" cy="557213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1"/>
          <p:cNvSpPr/>
          <p:nvPr/>
        </p:nvSpPr>
        <p:spPr>
          <a:xfrm>
            <a:off x="392906" y="2944648"/>
            <a:ext cx="402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Técnicas como anchor boxes, feature pyramid networks e data augmentation foram fundamentais para melhorar o desempenho do YOLO.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85750" y="3501861"/>
            <a:ext cx="4171950" cy="557213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285750" y="3501861"/>
            <a:ext cx="28575" cy="557213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7" name="Text 14"/>
          <p:cNvSpPr/>
          <p:nvPr/>
        </p:nvSpPr>
        <p:spPr>
          <a:xfrm>
            <a:off x="392906" y="3609017"/>
            <a:ext cx="402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Apesar dos avanços, desafios como detecção de objetos pequenos e oclusos ainda persistem e direcionam pesquisas futuras.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686300" y="1194429"/>
            <a:ext cx="42433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Referências Principais: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4686300" y="1528400"/>
            <a:ext cx="27695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Redmon, J., Divvala, S., Girshick, R., &amp; Farhadi, A. (2016).</a:t>
            </a:r>
            <a:endParaRPr lang="en-US" sz="810" dirty="0"/>
          </a:p>
        </p:txBody>
      </p:sp>
      <p:sp>
        <p:nvSpPr>
          <p:cNvPr id="22" name="Text 19"/>
          <p:cNvSpPr/>
          <p:nvPr/>
        </p:nvSpPr>
        <p:spPr>
          <a:xfrm>
            <a:off x="4686300" y="1528400"/>
            <a:ext cx="4118986" cy="26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i="1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Only Look Once: Unified, Real-Time Object Detection.</a:t>
            </a:r>
            <a:endParaRPr lang="en-US" sz="810" dirty="0"/>
          </a:p>
        </p:txBody>
      </p:sp>
      <p:sp>
        <p:nvSpPr>
          <p:cNvPr id="23" name="Text 20"/>
          <p:cNvSpPr/>
          <p:nvPr/>
        </p:nvSpPr>
        <p:spPr>
          <a:xfrm>
            <a:off x="5977310" y="1682688"/>
            <a:ext cx="41439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CVPR.</a:t>
            </a:r>
            <a:endParaRPr lang="en-US" sz="810" dirty="0"/>
          </a:p>
        </p:txBody>
      </p:sp>
      <p:sp>
        <p:nvSpPr>
          <p:cNvPr id="24" name="Text 21"/>
          <p:cNvSpPr/>
          <p:nvPr/>
        </p:nvSpPr>
        <p:spPr>
          <a:xfrm>
            <a:off x="4686300" y="1879839"/>
            <a:ext cx="16322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Redmon, J., &amp; Farhadi, A. (2017).</a:t>
            </a:r>
            <a:endParaRPr lang="en-US" sz="810" dirty="0"/>
          </a:p>
        </p:txBody>
      </p:sp>
      <p:sp>
        <p:nvSpPr>
          <p:cNvPr id="25" name="Text 22"/>
          <p:cNvSpPr/>
          <p:nvPr/>
        </p:nvSpPr>
        <p:spPr>
          <a:xfrm>
            <a:off x="6247070" y="1879839"/>
            <a:ext cx="17314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i="1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YOLO9000: Better, Faster, Stronger.</a:t>
            </a:r>
            <a:endParaRPr lang="en-US" sz="810" dirty="0"/>
          </a:p>
        </p:txBody>
      </p:sp>
      <p:sp>
        <p:nvSpPr>
          <p:cNvPr id="26" name="Text 23"/>
          <p:cNvSpPr/>
          <p:nvPr/>
        </p:nvSpPr>
        <p:spPr>
          <a:xfrm>
            <a:off x="7907043" y="1879839"/>
            <a:ext cx="41439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CVPR.</a:t>
            </a:r>
            <a:endParaRPr lang="en-US" sz="810" dirty="0"/>
          </a:p>
        </p:txBody>
      </p:sp>
      <p:sp>
        <p:nvSpPr>
          <p:cNvPr id="27" name="Text 24"/>
          <p:cNvSpPr/>
          <p:nvPr/>
        </p:nvSpPr>
        <p:spPr>
          <a:xfrm>
            <a:off x="4686300" y="2076990"/>
            <a:ext cx="16322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Redmon, J., &amp; Farhadi, A. (2018).</a:t>
            </a:r>
            <a:endParaRPr lang="en-US" sz="810" dirty="0"/>
          </a:p>
        </p:txBody>
      </p:sp>
      <p:sp>
        <p:nvSpPr>
          <p:cNvPr id="28" name="Text 25"/>
          <p:cNvSpPr/>
          <p:nvPr/>
        </p:nvSpPr>
        <p:spPr>
          <a:xfrm>
            <a:off x="6247070" y="2076990"/>
            <a:ext cx="1868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i="1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YOLOv3: An Incremental Improvement.</a:t>
            </a:r>
            <a:endParaRPr lang="en-US" sz="810" dirty="0"/>
          </a:p>
        </p:txBody>
      </p:sp>
      <p:sp>
        <p:nvSpPr>
          <p:cNvPr id="29" name="Text 26"/>
          <p:cNvSpPr/>
          <p:nvPr/>
        </p:nvSpPr>
        <p:spPr>
          <a:xfrm>
            <a:off x="8044058" y="2076990"/>
            <a:ext cx="35531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arXiv.</a:t>
            </a:r>
            <a:endParaRPr lang="en-US" sz="810" dirty="0"/>
          </a:p>
        </p:txBody>
      </p:sp>
      <p:sp>
        <p:nvSpPr>
          <p:cNvPr id="30" name="Text 27"/>
          <p:cNvSpPr/>
          <p:nvPr/>
        </p:nvSpPr>
        <p:spPr>
          <a:xfrm>
            <a:off x="4686300" y="2274140"/>
            <a:ext cx="25221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Bochkovskiy, A., Wang, C. Y., &amp; Liao, H. Y. M. (2020).</a:t>
            </a:r>
            <a:endParaRPr lang="en-US" sz="810" dirty="0"/>
          </a:p>
        </p:txBody>
      </p:sp>
      <p:sp>
        <p:nvSpPr>
          <p:cNvPr id="31" name="Text 28"/>
          <p:cNvSpPr/>
          <p:nvPr/>
        </p:nvSpPr>
        <p:spPr>
          <a:xfrm>
            <a:off x="4694129" y="2391571"/>
            <a:ext cx="3854388" cy="26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i="1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YOLOv4: Optimal Speed and Accuracy of Object Detection.</a:t>
            </a:r>
            <a:endParaRPr lang="en-US" sz="810" dirty="0"/>
          </a:p>
        </p:txBody>
      </p:sp>
      <p:sp>
        <p:nvSpPr>
          <p:cNvPr id="32" name="Text 29"/>
          <p:cNvSpPr/>
          <p:nvPr/>
        </p:nvSpPr>
        <p:spPr>
          <a:xfrm>
            <a:off x="6041213" y="2428429"/>
            <a:ext cx="35531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arXiv.</a:t>
            </a:r>
            <a:endParaRPr lang="en-US" sz="810" dirty="0"/>
          </a:p>
        </p:txBody>
      </p:sp>
      <p:sp>
        <p:nvSpPr>
          <p:cNvPr id="33" name="Text 30"/>
          <p:cNvSpPr/>
          <p:nvPr/>
        </p:nvSpPr>
        <p:spPr>
          <a:xfrm>
            <a:off x="4686300" y="2625579"/>
            <a:ext cx="120344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Jocher, G., et al. (2020).</a:t>
            </a:r>
            <a:endParaRPr lang="en-US" sz="810" dirty="0"/>
          </a:p>
        </p:txBody>
      </p:sp>
      <p:sp>
        <p:nvSpPr>
          <p:cNvPr id="34" name="Text 31"/>
          <p:cNvSpPr/>
          <p:nvPr/>
        </p:nvSpPr>
        <p:spPr>
          <a:xfrm>
            <a:off x="5818305" y="2625579"/>
            <a:ext cx="4944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i="1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YOLOv5.</a:t>
            </a:r>
            <a:endParaRPr lang="en-US" sz="810" dirty="0"/>
          </a:p>
        </p:txBody>
      </p:sp>
      <p:sp>
        <p:nvSpPr>
          <p:cNvPr id="35" name="Text 32"/>
          <p:cNvSpPr/>
          <p:nvPr/>
        </p:nvSpPr>
        <p:spPr>
          <a:xfrm>
            <a:off x="6241349" y="2625579"/>
            <a:ext cx="20723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https://github.com/ultralytics/yolov5</a:t>
            </a:r>
            <a:endParaRPr lang="en-US" sz="810" dirty="0"/>
          </a:p>
        </p:txBody>
      </p:sp>
      <p:sp>
        <p:nvSpPr>
          <p:cNvPr id="36" name="Text 33"/>
          <p:cNvSpPr/>
          <p:nvPr/>
        </p:nvSpPr>
        <p:spPr>
          <a:xfrm>
            <a:off x="4686300" y="2822730"/>
            <a:ext cx="25221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Wang, C. Y., Bochkovskiy, A., &amp; Liao, H. Y. M. (2022).</a:t>
            </a:r>
            <a:endParaRPr lang="en-US" sz="810" dirty="0"/>
          </a:p>
        </p:txBody>
      </p:sp>
      <p:sp>
        <p:nvSpPr>
          <p:cNvPr id="37" name="Text 34"/>
          <p:cNvSpPr/>
          <p:nvPr/>
        </p:nvSpPr>
        <p:spPr>
          <a:xfrm>
            <a:off x="4694129" y="2932333"/>
            <a:ext cx="4115414" cy="26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i="1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YOLOv7: Trainable bag-of-freebies sets new state-of-the-art for real-time object detectors.</a:t>
            </a:r>
            <a:endParaRPr lang="en-US" sz="810" dirty="0"/>
          </a:p>
        </p:txBody>
      </p:sp>
      <p:sp>
        <p:nvSpPr>
          <p:cNvPr id="38" name="Text 35"/>
          <p:cNvSpPr/>
          <p:nvPr/>
        </p:nvSpPr>
        <p:spPr>
          <a:xfrm>
            <a:off x="7155917" y="2977018"/>
            <a:ext cx="35531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arXiv.</a:t>
            </a:r>
            <a:endParaRPr lang="en-US" sz="810" dirty="0"/>
          </a:p>
        </p:txBody>
      </p:sp>
      <p:sp>
        <p:nvSpPr>
          <p:cNvPr id="39" name="Text 36"/>
          <p:cNvSpPr/>
          <p:nvPr/>
        </p:nvSpPr>
        <p:spPr>
          <a:xfrm>
            <a:off x="4686300" y="3174169"/>
            <a:ext cx="92882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Ultralytics. (2023).</a:t>
            </a:r>
            <a:endParaRPr lang="en-US" sz="810" dirty="0"/>
          </a:p>
        </p:txBody>
      </p:sp>
      <p:sp>
        <p:nvSpPr>
          <p:cNvPr id="40" name="Text 37"/>
          <p:cNvSpPr/>
          <p:nvPr/>
        </p:nvSpPr>
        <p:spPr>
          <a:xfrm>
            <a:off x="5543690" y="3174169"/>
            <a:ext cx="4944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i="1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YOLOv8.</a:t>
            </a:r>
            <a:endParaRPr lang="en-US" sz="810" dirty="0"/>
          </a:p>
        </p:txBody>
      </p:sp>
      <p:sp>
        <p:nvSpPr>
          <p:cNvPr id="41" name="Text 38"/>
          <p:cNvSpPr/>
          <p:nvPr/>
        </p:nvSpPr>
        <p:spPr>
          <a:xfrm>
            <a:off x="5966733" y="3174169"/>
            <a:ext cx="2203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https://github.com/ultralytics/ultralytics</a:t>
            </a:r>
            <a:endParaRPr lang="en-US" sz="810" dirty="0"/>
          </a:p>
        </p:txBody>
      </p:sp>
      <p:sp>
        <p:nvSpPr>
          <p:cNvPr id="42" name="Text 39"/>
          <p:cNvSpPr/>
          <p:nvPr/>
        </p:nvSpPr>
        <p:spPr>
          <a:xfrm>
            <a:off x="4686300" y="3537412"/>
            <a:ext cx="42433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Recursos para Aprofundamento: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686300" y="3766012"/>
            <a:ext cx="2028825" cy="3429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3880312"/>
            <a:ext cx="142875" cy="11430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4972050" y="3851737"/>
            <a:ext cx="13291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ultralytics/yolov5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6829425" y="3766012"/>
            <a:ext cx="2028825" cy="3429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150" y="3880312"/>
            <a:ext cx="100013" cy="114300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7072313" y="3851737"/>
            <a:ext cx="12445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Paper: YOLOv4 (arXiv)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4686300" y="4223212"/>
            <a:ext cx="2028825" cy="3429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025" y="4337512"/>
            <a:ext cx="142875" cy="11430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4972050" y="4308937"/>
            <a:ext cx="1608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Course: Deep Learning for CV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6829425" y="4223212"/>
            <a:ext cx="2028825" cy="3429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5150" y="4337512"/>
            <a:ext cx="142875" cy="114300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7115175" y="4308937"/>
            <a:ext cx="11557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Colab: YOLO Tutorial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86</cp:revision>
  <dcterms:created xsi:type="dcterms:W3CDTF">2025-06-05T13:08:14Z</dcterms:created>
  <dcterms:modified xsi:type="dcterms:W3CDTF">2025-06-05T13:29:24Z</dcterms:modified>
</cp:coreProperties>
</file>